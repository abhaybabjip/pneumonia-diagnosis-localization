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6AD936C-C01B-4C0B-9CEB-5339ABCB7BC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B2A66F1-B691-4CF7-896C-728177E6CCE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17CCFAC-4FF1-4D11-9EAC-EF88D200D0A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0B165CF-E913-4057-864B-9D3BFAE78F3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9C2AB98-2283-4949-9AE9-EE98D552C26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127E6A-03A6-41A2-B951-0E27C41273D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382E9E0-5B84-4315-B304-6DAA145E3D8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7FDCD5E-3446-467C-8C65-F8040221D25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34FA075-4A29-4DBC-BE4F-AF8A84B9C20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0EB7DF7-CFF6-4AAA-A0B2-0DA1BEF1AC1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856766E-5225-4F68-831E-AF5D7E4133B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672DE16-73E2-4EC1-B6B0-AD2D5C7567ED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2191040" cy="109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Text 1"/>
          <p:cNvSpPr/>
          <p:nvPr/>
        </p:nvSpPr>
        <p:spPr>
          <a:xfrm>
            <a:off x="411480" y="6510600"/>
            <a:ext cx="89604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  <a:ea typeface="Aptos"/>
              </a:rPr>
              <a:t>PES University • UE24CS352A Machine Learning Mini-Project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 2"/>
          <p:cNvSpPr/>
          <p:nvPr/>
        </p:nvSpPr>
        <p:spPr>
          <a:xfrm>
            <a:off x="9281160" y="6510600"/>
            <a:ext cx="24681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  <a:ea typeface="Aptos"/>
              </a:rPr>
              <a:t>Pneumonia Detection &amp; Localization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1179576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64748b"/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E686D4FB-CF38-435C-96E2-C409F82536F8}" type="slidenum">
              <a:rPr b="0" lang="en-US" sz="800" spc="-1" strike="noStrike">
                <a:solidFill>
                  <a:srgbClr val="64748b"/>
                </a:solidFill>
                <a:latin typeface="Apto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2"/>
          <p:cNvSpPr/>
          <p:nvPr/>
        </p:nvSpPr>
        <p:spPr>
          <a:xfrm>
            <a:off x="731520" y="1143000"/>
            <a:ext cx="749736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ptos"/>
              </a:rPr>
              <a:t>Pneumonia Diagnosis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ptos"/>
              </a:rPr>
              <a:t>Detection and Localization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749880" y="2578680"/>
            <a:ext cx="6948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bfdbfe"/>
                </a:solidFill>
                <a:latin typeface="Aptos"/>
              </a:rPr>
              <a:t>Weakly supervised localization from chest X-rays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4"/>
          <p:cNvSpPr/>
          <p:nvPr/>
        </p:nvSpPr>
        <p:spPr>
          <a:xfrm>
            <a:off x="749880" y="3246120"/>
            <a:ext cx="4068360" cy="566280"/>
          </a:xfrm>
          <a:prstGeom prst="roundRect">
            <a:avLst>
              <a:gd name="adj" fmla="val 16667"/>
            </a:avLst>
          </a:prstGeom>
          <a:solidFill>
            <a:srgbClr val="244b70"/>
          </a:solidFill>
          <a:ln w="12700">
            <a:solidFill>
              <a:srgbClr val="3b63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941760" y="3401640"/>
            <a:ext cx="3702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ptos"/>
              </a:rPr>
              <a:t>DenseNet121  •  Grad-CAM  •  RSNA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685800" y="4572000"/>
            <a:ext cx="57326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Aptos"/>
                <a:ea typeface="Noto Sans CJK SC"/>
              </a:rPr>
              <a:t>Presenters: Dhheraj P  [PES2UG24CS341]</a:t>
            </a:r>
            <a:br>
              <a:rPr sz="1300"/>
            </a:br>
            <a:r>
              <a:rPr b="0" lang="en-US" sz="1300" spc="-1" strike="noStrike">
                <a:solidFill>
                  <a:srgbClr val="e2e8f0"/>
                </a:solidFill>
                <a:latin typeface="Aptos"/>
                <a:ea typeface="Noto Sans CJK SC"/>
              </a:rPr>
              <a:t>                     </a:t>
            </a:r>
            <a:r>
              <a:rPr b="0" lang="en-US" sz="1300" spc="-1" strike="noStrike">
                <a:solidFill>
                  <a:srgbClr val="e2e8f0"/>
                </a:solidFill>
                <a:latin typeface="Aptos"/>
              </a:rPr>
              <a:t>Abhay Babji P [PES2UG24CS342]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7"/>
          <p:cNvSpPr/>
          <p:nvPr/>
        </p:nvSpPr>
        <p:spPr>
          <a:xfrm>
            <a:off x="749880" y="499248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Aptos"/>
              </a:rPr>
              <a:t>UE24CS352A • PES University • 2026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8"/>
          <p:cNvSpPr/>
          <p:nvPr/>
        </p:nvSpPr>
        <p:spPr>
          <a:xfrm>
            <a:off x="8458200" y="1051560"/>
            <a:ext cx="2331000" cy="2331000"/>
          </a:xfrm>
          <a:prstGeom prst="ellipse">
            <a:avLst/>
          </a:prstGeom>
          <a:solidFill>
            <a:srgbClr val="223e5b"/>
          </a:solidFill>
          <a:ln w="25400">
            <a:solidFill>
              <a:srgbClr val="60a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9"/>
          <p:cNvSpPr/>
          <p:nvPr/>
        </p:nvSpPr>
        <p:spPr>
          <a:xfrm>
            <a:off x="8888040" y="1481400"/>
            <a:ext cx="1471320" cy="1471320"/>
          </a:xfrm>
          <a:prstGeom prst="ellipse">
            <a:avLst/>
          </a:prstGeom>
          <a:solidFill>
            <a:srgbClr val="15304b"/>
          </a:solidFill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0"/>
          <p:cNvSpPr/>
          <p:nvPr/>
        </p:nvSpPr>
        <p:spPr>
          <a:xfrm>
            <a:off x="9217080" y="1746360"/>
            <a:ext cx="8222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ptos"/>
              </a:rPr>
              <a:t>X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ptos"/>
              </a:rPr>
              <a:t>RAY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1"/>
          <p:cNvSpPr/>
          <p:nvPr/>
        </p:nvSpPr>
        <p:spPr>
          <a:xfrm>
            <a:off x="9619200" y="3492720"/>
            <a:ext cx="360" cy="667800"/>
          </a:xfrm>
          <a:prstGeom prst="line">
            <a:avLst/>
          </a:prstGeom>
          <a:ln w="31750">
            <a:solidFill>
              <a:srgbClr val="60a5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2"/>
          <p:cNvSpPr/>
          <p:nvPr/>
        </p:nvSpPr>
        <p:spPr>
          <a:xfrm>
            <a:off x="8522280" y="4251960"/>
            <a:ext cx="2193840" cy="65772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3"/>
          <p:cNvSpPr/>
          <p:nvPr/>
        </p:nvSpPr>
        <p:spPr>
          <a:xfrm>
            <a:off x="8714160" y="4443840"/>
            <a:ext cx="1828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Pneumonia?  +  Where?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sldNum" idx="5"/>
          </p:nvPr>
        </p:nvSpPr>
        <p:spPr>
          <a:xfrm>
            <a:off x="1179576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64748b"/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C9204C3D-4065-44B4-B638-0E974FF7CBA6}" type="slidenum">
              <a:rPr b="0" lang="en-US" sz="800" spc="-1" strike="noStrike">
                <a:solidFill>
                  <a:srgbClr val="64748b"/>
                </a:solidFill>
                <a:latin typeface="Aptos"/>
              </a:rPr>
              <a:t>1</a:t>
            </a:fld>
            <a:endParaRPr b="0" lang="en-US" sz="8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502920" y="347400"/>
            <a:ext cx="110635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6324f"/>
                </a:solidFill>
                <a:latin typeface="Aptos"/>
              </a:rPr>
              <a:t>Problem &amp; Motivation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530280" y="822960"/>
            <a:ext cx="10972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Aptos"/>
              </a:rPr>
              <a:t>Detect pneumonia and provide an interpretable localization without box supervision.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594360" y="1261800"/>
            <a:ext cx="5348520" cy="45255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841320" y="1536120"/>
            <a:ext cx="1096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f4e79"/>
                </a:solidFill>
                <a:latin typeface="Aptos"/>
              </a:rPr>
              <a:t>PROBLEM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841320" y="1828800"/>
            <a:ext cx="4479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f172a"/>
                </a:solidFill>
                <a:latin typeface="Aptos"/>
              </a:rPr>
              <a:t>Build a model that can: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841320" y="2286000"/>
            <a:ext cx="447984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marL="203040" indent="-20304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1e293b"/>
                </a:solidFill>
                <a:latin typeface="Aptos"/>
              </a:rPr>
              <a:t>Classify a frontal chest X-ray as pneumonia / no pneumonia.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1e293b"/>
                </a:solidFill>
                <a:latin typeface="Aptos"/>
              </a:rPr>
              <a:t>Highlight image regions that contribute to the prediction.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1e293b"/>
                </a:solidFill>
                <a:latin typeface="Aptos"/>
              </a:rPr>
              <a:t>Evaluate classification and localization separately.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6"/>
          <p:cNvSpPr/>
          <p:nvPr/>
        </p:nvSpPr>
        <p:spPr>
          <a:xfrm>
            <a:off x="6263640" y="1261800"/>
            <a:ext cx="5348520" cy="4525560"/>
          </a:xfrm>
          <a:prstGeom prst="roundRect">
            <a:avLst>
              <a:gd name="adj" fmla="val 2424"/>
            </a:avLst>
          </a:prstGeom>
          <a:solidFill>
            <a:srgbClr val="eaf6f4"/>
          </a:solidFill>
          <a:ln w="12700">
            <a:solidFill>
              <a:srgbClr val="b8e0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7"/>
          <p:cNvSpPr/>
          <p:nvPr/>
        </p:nvSpPr>
        <p:spPr>
          <a:xfrm>
            <a:off x="6510600" y="1536120"/>
            <a:ext cx="2468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f766e"/>
                </a:solidFill>
                <a:latin typeface="Aptos"/>
              </a:rPr>
              <a:t>WHY WEAK SUPERVISION?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8"/>
          <p:cNvSpPr/>
          <p:nvPr/>
        </p:nvSpPr>
        <p:spPr>
          <a:xfrm>
            <a:off x="6510600" y="1874520"/>
            <a:ext cx="4571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3333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f172a"/>
                </a:solidFill>
                <a:latin typeface="Aptos"/>
              </a:rPr>
              <a:t>Training uses only image-level labels.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9"/>
          <p:cNvSpPr/>
          <p:nvPr/>
        </p:nvSpPr>
        <p:spPr>
          <a:xfrm>
            <a:off x="6537960" y="2487240"/>
            <a:ext cx="2102400" cy="114228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b8e0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0"/>
          <p:cNvSpPr/>
          <p:nvPr/>
        </p:nvSpPr>
        <p:spPr>
          <a:xfrm>
            <a:off x="6720840" y="2761560"/>
            <a:ext cx="1736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6324f"/>
                </a:solidFill>
                <a:latin typeface="Aptos"/>
              </a:rPr>
              <a:t>Supervised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6324f"/>
                </a:solidFill>
                <a:latin typeface="Aptos"/>
              </a:rPr>
              <a:t>localization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1"/>
          <p:cNvSpPr/>
          <p:nvPr/>
        </p:nvSpPr>
        <p:spPr>
          <a:xfrm>
            <a:off x="6638400" y="3401640"/>
            <a:ext cx="1873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Aptos"/>
              </a:rPr>
              <a:t>boxes used for training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12"/>
          <p:cNvSpPr/>
          <p:nvPr/>
        </p:nvSpPr>
        <p:spPr>
          <a:xfrm>
            <a:off x="9144000" y="2487240"/>
            <a:ext cx="2102400" cy="114228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b8e0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3"/>
          <p:cNvSpPr/>
          <p:nvPr/>
        </p:nvSpPr>
        <p:spPr>
          <a:xfrm>
            <a:off x="9290160" y="2724840"/>
            <a:ext cx="18097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f766e"/>
                </a:solidFill>
                <a:latin typeface="Aptos"/>
              </a:rPr>
              <a:t>Our weakly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f766e"/>
                </a:solidFill>
                <a:latin typeface="Aptos"/>
              </a:rPr>
              <a:t>supervised approach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4"/>
          <p:cNvSpPr/>
          <p:nvPr/>
        </p:nvSpPr>
        <p:spPr>
          <a:xfrm>
            <a:off x="9290160" y="3401640"/>
            <a:ext cx="18097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Aptos"/>
              </a:rPr>
              <a:t>boxes only for evaluation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15"/>
          <p:cNvSpPr/>
          <p:nvPr/>
        </p:nvSpPr>
        <p:spPr>
          <a:xfrm>
            <a:off x="8641080" y="3053880"/>
            <a:ext cx="374760" cy="360"/>
          </a:xfrm>
          <a:prstGeom prst="line">
            <a:avLst/>
          </a:prstGeom>
          <a:ln w="25400">
            <a:solidFill>
              <a:srgbClr val="0f766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6"/>
          <p:cNvSpPr/>
          <p:nvPr/>
        </p:nvSpPr>
        <p:spPr>
          <a:xfrm>
            <a:off x="6537960" y="4160520"/>
            <a:ext cx="45255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Aptos"/>
              </a:rPr>
              <a:t>Goal: make the prediction more inspectable without requiring localization labels during classifier training.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sldNum" idx="6"/>
          </p:nvPr>
        </p:nvSpPr>
        <p:spPr>
          <a:xfrm>
            <a:off x="1179576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64748b"/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BBBD0805-23AA-425F-BA43-D109ABE11783}" type="slidenum">
              <a:rPr b="0" lang="en-US" sz="800" spc="-1" strike="noStrike">
                <a:solidFill>
                  <a:srgbClr val="64748b"/>
                </a:solidFill>
                <a:latin typeface="Aptos"/>
              </a:rPr>
              <a:t>2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/>
          <p:cNvSpPr/>
          <p:nvPr/>
        </p:nvSpPr>
        <p:spPr>
          <a:xfrm>
            <a:off x="502920" y="347400"/>
            <a:ext cx="110635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6324f"/>
                </a:solidFill>
                <a:latin typeface="Aptos"/>
              </a:rPr>
              <a:t>Dataset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530280" y="822960"/>
            <a:ext cx="10972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Aptos"/>
              </a:rPr>
              <a:t>RSNA Pneumonia Detection Challenge • full labeled training partition used.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2"/>
          <p:cNvSpPr/>
          <p:nvPr/>
        </p:nvSpPr>
        <p:spPr>
          <a:xfrm>
            <a:off x="685800" y="1325880"/>
            <a:ext cx="2513880" cy="114228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3"/>
          <p:cNvSpPr/>
          <p:nvPr/>
        </p:nvSpPr>
        <p:spPr>
          <a:xfrm>
            <a:off x="685800" y="1325880"/>
            <a:ext cx="72360" cy="1142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"/>
          <p:cNvSpPr/>
          <p:nvPr/>
        </p:nvSpPr>
        <p:spPr>
          <a:xfrm>
            <a:off x="850320" y="1435680"/>
            <a:ext cx="2239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f172a"/>
                </a:solidFill>
                <a:latin typeface="Aptos"/>
              </a:rPr>
              <a:t>26,684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5"/>
          <p:cNvSpPr/>
          <p:nvPr/>
        </p:nvSpPr>
        <p:spPr>
          <a:xfrm>
            <a:off x="850320" y="1856160"/>
            <a:ext cx="2285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</a:rPr>
              <a:t>Unique labeled images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6"/>
          <p:cNvSpPr/>
          <p:nvPr/>
        </p:nvSpPr>
        <p:spPr>
          <a:xfrm>
            <a:off x="3337560" y="1325880"/>
            <a:ext cx="2056680" cy="114228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7"/>
          <p:cNvSpPr/>
          <p:nvPr/>
        </p:nvSpPr>
        <p:spPr>
          <a:xfrm>
            <a:off x="3337560" y="1325880"/>
            <a:ext cx="72360" cy="11422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8"/>
          <p:cNvSpPr/>
          <p:nvPr/>
        </p:nvSpPr>
        <p:spPr>
          <a:xfrm>
            <a:off x="3502080" y="1435680"/>
            <a:ext cx="17823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f172a"/>
                </a:solidFill>
                <a:latin typeface="Aptos"/>
              </a:rPr>
              <a:t>6,012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9"/>
          <p:cNvSpPr/>
          <p:nvPr/>
        </p:nvSpPr>
        <p:spPr>
          <a:xfrm>
            <a:off x="3502080" y="185616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</a:rPr>
              <a:t>Pneumonia positive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0"/>
          <p:cNvSpPr/>
          <p:nvPr/>
        </p:nvSpPr>
        <p:spPr>
          <a:xfrm>
            <a:off x="5532120" y="1325880"/>
            <a:ext cx="2056680" cy="114228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11"/>
          <p:cNvSpPr/>
          <p:nvPr/>
        </p:nvSpPr>
        <p:spPr>
          <a:xfrm>
            <a:off x="5532120" y="1325880"/>
            <a:ext cx="72360" cy="1142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12"/>
          <p:cNvSpPr/>
          <p:nvPr/>
        </p:nvSpPr>
        <p:spPr>
          <a:xfrm>
            <a:off x="5696640" y="1435680"/>
            <a:ext cx="17823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f172a"/>
                </a:solidFill>
                <a:latin typeface="Aptos"/>
              </a:rPr>
              <a:t>20,672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3"/>
          <p:cNvSpPr/>
          <p:nvPr/>
        </p:nvSpPr>
        <p:spPr>
          <a:xfrm>
            <a:off x="5696640" y="185616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</a:rPr>
              <a:t>Negative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14"/>
          <p:cNvSpPr/>
          <p:nvPr/>
        </p:nvSpPr>
        <p:spPr>
          <a:xfrm>
            <a:off x="7726680" y="1325880"/>
            <a:ext cx="2148120" cy="114228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15"/>
          <p:cNvSpPr/>
          <p:nvPr/>
        </p:nvSpPr>
        <p:spPr>
          <a:xfrm>
            <a:off x="7726680" y="1325880"/>
            <a:ext cx="72360" cy="11422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16"/>
          <p:cNvSpPr/>
          <p:nvPr/>
        </p:nvSpPr>
        <p:spPr>
          <a:xfrm>
            <a:off x="7891200" y="1435680"/>
            <a:ext cx="18738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f172a"/>
                </a:solidFill>
                <a:latin typeface="Aptos"/>
              </a:rPr>
              <a:t>30,227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7"/>
          <p:cNvSpPr/>
          <p:nvPr/>
        </p:nvSpPr>
        <p:spPr>
          <a:xfrm>
            <a:off x="7891200" y="1856160"/>
            <a:ext cx="1919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</a:rPr>
              <a:t>Annotation rows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18"/>
          <p:cNvSpPr/>
          <p:nvPr/>
        </p:nvSpPr>
        <p:spPr>
          <a:xfrm>
            <a:off x="10012680" y="1325880"/>
            <a:ext cx="1508040" cy="114228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9"/>
          <p:cNvSpPr/>
          <p:nvPr/>
        </p:nvSpPr>
        <p:spPr>
          <a:xfrm>
            <a:off x="10012680" y="1325880"/>
            <a:ext cx="72360" cy="11422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20"/>
          <p:cNvSpPr/>
          <p:nvPr/>
        </p:nvSpPr>
        <p:spPr>
          <a:xfrm>
            <a:off x="10177200" y="1435680"/>
            <a:ext cx="12337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f172a"/>
                </a:solidFill>
                <a:latin typeface="Aptos"/>
              </a:rPr>
              <a:t>42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21"/>
          <p:cNvSpPr/>
          <p:nvPr/>
        </p:nvSpPr>
        <p:spPr>
          <a:xfrm>
            <a:off x="10177200" y="1856160"/>
            <a:ext cx="12794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</a:rPr>
              <a:t>Seed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22"/>
          <p:cNvSpPr/>
          <p:nvPr/>
        </p:nvSpPr>
        <p:spPr>
          <a:xfrm>
            <a:off x="685800" y="2761560"/>
            <a:ext cx="6537240" cy="26510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23"/>
          <p:cNvSpPr/>
          <p:nvPr/>
        </p:nvSpPr>
        <p:spPr>
          <a:xfrm>
            <a:off x="914400" y="299916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f172a"/>
                </a:solidFill>
                <a:latin typeface="Aptos"/>
              </a:rPr>
              <a:t>Image-level split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24"/>
          <p:cNvSpPr/>
          <p:nvPr/>
        </p:nvSpPr>
        <p:spPr>
          <a:xfrm>
            <a:off x="914400" y="3438000"/>
            <a:ext cx="1645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f4e79"/>
                </a:solidFill>
                <a:latin typeface="Aptos"/>
              </a:rPr>
              <a:t>Split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25"/>
          <p:cNvSpPr/>
          <p:nvPr/>
        </p:nvSpPr>
        <p:spPr>
          <a:xfrm>
            <a:off x="3063240" y="3438000"/>
            <a:ext cx="913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f4e79"/>
                </a:solidFill>
                <a:latin typeface="Aptos"/>
              </a:rPr>
              <a:t>Images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26"/>
          <p:cNvSpPr/>
          <p:nvPr/>
        </p:nvSpPr>
        <p:spPr>
          <a:xfrm>
            <a:off x="4160520" y="3438000"/>
            <a:ext cx="913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f4e79"/>
                </a:solidFill>
                <a:latin typeface="Aptos"/>
              </a:rPr>
              <a:t>Positive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27"/>
          <p:cNvSpPr/>
          <p:nvPr/>
        </p:nvSpPr>
        <p:spPr>
          <a:xfrm>
            <a:off x="5257800" y="3438000"/>
            <a:ext cx="1005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f4e79"/>
                </a:solidFill>
                <a:latin typeface="Aptos"/>
              </a:rPr>
              <a:t>Negative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28"/>
          <p:cNvSpPr/>
          <p:nvPr/>
        </p:nvSpPr>
        <p:spPr>
          <a:xfrm>
            <a:off x="914400" y="3840480"/>
            <a:ext cx="1645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Aptos"/>
              </a:rPr>
              <a:t>Train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29"/>
          <p:cNvSpPr/>
          <p:nvPr/>
        </p:nvSpPr>
        <p:spPr>
          <a:xfrm>
            <a:off x="3063240" y="3840480"/>
            <a:ext cx="913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Aptos"/>
              </a:rPr>
              <a:t>21,347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30"/>
          <p:cNvSpPr/>
          <p:nvPr/>
        </p:nvSpPr>
        <p:spPr>
          <a:xfrm>
            <a:off x="4160520" y="3840480"/>
            <a:ext cx="913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Aptos"/>
              </a:rPr>
              <a:t>4,783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31"/>
          <p:cNvSpPr/>
          <p:nvPr/>
        </p:nvSpPr>
        <p:spPr>
          <a:xfrm>
            <a:off x="5257800" y="3840480"/>
            <a:ext cx="1005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Aptos"/>
              </a:rPr>
              <a:t>16,564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32"/>
          <p:cNvSpPr/>
          <p:nvPr/>
        </p:nvSpPr>
        <p:spPr>
          <a:xfrm>
            <a:off x="914400" y="4297680"/>
            <a:ext cx="1645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Aptos"/>
              </a:rPr>
              <a:t>Validation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33"/>
          <p:cNvSpPr/>
          <p:nvPr/>
        </p:nvSpPr>
        <p:spPr>
          <a:xfrm>
            <a:off x="3063240" y="4297680"/>
            <a:ext cx="913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Aptos"/>
              </a:rPr>
              <a:t>2,668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34"/>
          <p:cNvSpPr/>
          <p:nvPr/>
        </p:nvSpPr>
        <p:spPr>
          <a:xfrm>
            <a:off x="4160520" y="4297680"/>
            <a:ext cx="913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Aptos"/>
              </a:rPr>
              <a:t>626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35"/>
          <p:cNvSpPr/>
          <p:nvPr/>
        </p:nvSpPr>
        <p:spPr>
          <a:xfrm>
            <a:off x="5257800" y="4297680"/>
            <a:ext cx="1005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Aptos"/>
              </a:rPr>
              <a:t>2,042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36"/>
          <p:cNvSpPr/>
          <p:nvPr/>
        </p:nvSpPr>
        <p:spPr>
          <a:xfrm>
            <a:off x="914400" y="4754880"/>
            <a:ext cx="1645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Aptos"/>
              </a:rPr>
              <a:t>Test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37"/>
          <p:cNvSpPr/>
          <p:nvPr/>
        </p:nvSpPr>
        <p:spPr>
          <a:xfrm>
            <a:off x="3063240" y="4754880"/>
            <a:ext cx="913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Aptos"/>
              </a:rPr>
              <a:t>2,669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38"/>
          <p:cNvSpPr/>
          <p:nvPr/>
        </p:nvSpPr>
        <p:spPr>
          <a:xfrm>
            <a:off x="4160520" y="4754880"/>
            <a:ext cx="913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Aptos"/>
              </a:rPr>
              <a:t>603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39"/>
          <p:cNvSpPr/>
          <p:nvPr/>
        </p:nvSpPr>
        <p:spPr>
          <a:xfrm>
            <a:off x="5257800" y="4754880"/>
            <a:ext cx="1005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Aptos"/>
              </a:rPr>
              <a:t>2,066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40"/>
          <p:cNvSpPr/>
          <p:nvPr/>
        </p:nvSpPr>
        <p:spPr>
          <a:xfrm>
            <a:off x="914400" y="5074920"/>
            <a:ext cx="5760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</a:rPr>
              <a:t>Grouped by image ID before splitting; all boxes for an image stay together.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41"/>
          <p:cNvSpPr/>
          <p:nvPr/>
        </p:nvSpPr>
        <p:spPr>
          <a:xfrm>
            <a:off x="7452360" y="2761560"/>
            <a:ext cx="4068360" cy="2651040"/>
          </a:xfrm>
          <a:prstGeom prst="roundRect">
            <a:avLst>
              <a:gd name="adj" fmla="val 4138"/>
            </a:avLst>
          </a:prstGeom>
          <a:solidFill>
            <a:srgbClr val="eff7fb"/>
          </a:solidFill>
          <a:ln w="12700">
            <a:solidFill>
              <a:srgbClr val="cfe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42"/>
          <p:cNvSpPr/>
          <p:nvPr/>
        </p:nvSpPr>
        <p:spPr>
          <a:xfrm>
            <a:off x="7699320" y="2999160"/>
            <a:ext cx="2010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e7490"/>
                </a:solidFill>
                <a:latin typeface="Aptos"/>
              </a:rPr>
              <a:t>DATA HANDLING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43"/>
          <p:cNvSpPr/>
          <p:nvPr/>
        </p:nvSpPr>
        <p:spPr>
          <a:xfrm>
            <a:off x="7699320" y="3401640"/>
            <a:ext cx="3428280" cy="15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marL="203040" indent="-20304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e293b"/>
                </a:solidFill>
                <a:latin typeface="Aptos"/>
              </a:rPr>
              <a:t>DICOM images remain local and are not committed to GitHub.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e293b"/>
                </a:solidFill>
                <a:latin typeface="Aptos"/>
              </a:rPr>
              <a:t>All annotation rows are grouped by image ID.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e293b"/>
                </a:solidFill>
                <a:latin typeface="Aptos"/>
              </a:rPr>
              <a:t>The separate 3,000-image unlabeled test folder is not used.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sldNum" idx="7"/>
          </p:nvPr>
        </p:nvSpPr>
        <p:spPr>
          <a:xfrm>
            <a:off x="1179576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64748b"/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3AE9FE91-CE60-47E0-A1A9-3E34A9877DD4}" type="slidenum">
              <a:rPr b="0" lang="en-US" sz="800" spc="-1" strike="noStrike">
                <a:solidFill>
                  <a:srgbClr val="64748b"/>
                </a:solidFill>
                <a:latin typeface="Aptos"/>
              </a:rPr>
              <a:t>3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/>
          <p:cNvSpPr/>
          <p:nvPr/>
        </p:nvSpPr>
        <p:spPr>
          <a:xfrm>
            <a:off x="502920" y="347400"/>
            <a:ext cx="110635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6324f"/>
                </a:solidFill>
                <a:latin typeface="Aptos"/>
              </a:rPr>
              <a:t>Reference Method &amp; Our Gap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"/>
          <p:cNvSpPr/>
          <p:nvPr/>
        </p:nvSpPr>
        <p:spPr>
          <a:xfrm>
            <a:off x="530280" y="822960"/>
            <a:ext cx="10972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Aptos"/>
              </a:rPr>
              <a:t>The project adapts the weakly supervised idea and strengthens the classifier/localization pipeline.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2"/>
          <p:cNvSpPr/>
          <p:nvPr/>
        </p:nvSpPr>
        <p:spPr>
          <a:xfrm>
            <a:off x="594360" y="1298520"/>
            <a:ext cx="5439960" cy="45255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3"/>
          <p:cNvSpPr/>
          <p:nvPr/>
        </p:nvSpPr>
        <p:spPr>
          <a:xfrm>
            <a:off x="841320" y="1554480"/>
            <a:ext cx="2010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f4e79"/>
                </a:solidFill>
                <a:latin typeface="Aptos"/>
              </a:rPr>
              <a:t>REFERENCE PAPER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4"/>
          <p:cNvSpPr/>
          <p:nvPr/>
        </p:nvSpPr>
        <p:spPr>
          <a:xfrm>
            <a:off x="841320" y="1874520"/>
            <a:ext cx="45712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222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f172a"/>
                </a:solidFill>
                <a:latin typeface="Aptos"/>
              </a:rPr>
              <a:t>Huang, Monam &amp; Cortes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f172a"/>
                </a:solidFill>
                <a:latin typeface="Aptos"/>
              </a:rPr>
              <a:t>“</a:t>
            </a:r>
            <a:r>
              <a:rPr b="1" lang="en-US" sz="2000" spc="-1" strike="noStrike">
                <a:solidFill>
                  <a:srgbClr val="0f172a"/>
                </a:solidFill>
                <a:latin typeface="Aptos"/>
              </a:rPr>
              <a:t>Weakly Supervised Pneumonia Localization”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5"/>
          <p:cNvSpPr/>
          <p:nvPr/>
        </p:nvSpPr>
        <p:spPr>
          <a:xfrm>
            <a:off x="841320" y="2816280"/>
            <a:ext cx="4571280" cy="17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marL="203040" indent="-20304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1e293b"/>
                </a:solidFill>
                <a:latin typeface="Aptos"/>
              </a:rPr>
              <a:t>Binary CNN classifier followed by CAM.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1e293b"/>
                </a:solidFill>
                <a:latin typeface="Aptos"/>
              </a:rPr>
              <a:t>U-Net lung segmentation is used as additional input.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1e293b"/>
                </a:solidFill>
                <a:latin typeface="Aptos"/>
              </a:rPr>
              <a:t>CAM heatmap is clustered to obtain candidate boxes.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6"/>
          <p:cNvSpPr/>
          <p:nvPr/>
        </p:nvSpPr>
        <p:spPr>
          <a:xfrm>
            <a:off x="6309360" y="1298520"/>
            <a:ext cx="5257080" cy="4525560"/>
          </a:xfrm>
          <a:prstGeom prst="roundRect">
            <a:avLst>
              <a:gd name="adj" fmla="val 2424"/>
            </a:avLst>
          </a:prstGeom>
          <a:solidFill>
            <a:srgbClr val="f8fafc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7"/>
          <p:cNvSpPr/>
          <p:nvPr/>
        </p:nvSpPr>
        <p:spPr>
          <a:xfrm>
            <a:off x="6565320" y="1554480"/>
            <a:ext cx="21024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f766e"/>
                </a:solidFill>
                <a:latin typeface="Aptos"/>
              </a:rPr>
              <a:t>WHY WE CHANGED IT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8"/>
          <p:cNvSpPr/>
          <p:nvPr/>
        </p:nvSpPr>
        <p:spPr>
          <a:xfrm>
            <a:off x="6565320" y="1901880"/>
            <a:ext cx="4525560" cy="27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marL="203040" indent="-20304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1e293b"/>
                </a:solidFill>
                <a:latin typeface="Aptos"/>
              </a:rPr>
              <a:t>Use ImageNet-pretrained DenseNet121 for stronger feature extraction.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1e293b"/>
                </a:solidFill>
                <a:latin typeface="Aptos"/>
              </a:rPr>
              <a:t>Increase input resolution to 224×224 instead of 128×128.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1e293b"/>
                </a:solidFill>
                <a:latin typeface="Aptos"/>
              </a:rPr>
              <a:t>Use Grad-CAM with adaptive thresholding and connected components.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1e293b"/>
                </a:solidFill>
                <a:latin typeface="Aptos"/>
              </a:rPr>
              <a:t>Report classifier-conditioned and classifier-independent localization.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9"/>
          <p:cNvSpPr/>
          <p:nvPr/>
        </p:nvSpPr>
        <p:spPr>
          <a:xfrm>
            <a:off x="6565320" y="5074920"/>
            <a:ext cx="4296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b91c1c"/>
                </a:solidFill>
                <a:latin typeface="Aptos"/>
              </a:rPr>
              <a:t>Bounding boxes remain evaluation-only.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sldNum" idx="8"/>
          </p:nvPr>
        </p:nvSpPr>
        <p:spPr>
          <a:xfrm>
            <a:off x="1179576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64748b"/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7E115A07-3606-4444-9035-6EB200BAF65A}" type="slidenum">
              <a:rPr b="0" lang="en-US" sz="800" spc="-1" strike="noStrike">
                <a:solidFill>
                  <a:srgbClr val="64748b"/>
                </a:solidFill>
                <a:latin typeface="Aptos"/>
              </a:rPr>
              <a:t>4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/>
          <p:nvPr/>
        </p:nvSpPr>
        <p:spPr>
          <a:xfrm>
            <a:off x="502920" y="347400"/>
            <a:ext cx="110635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6324f"/>
                </a:solidFill>
                <a:latin typeface="Aptos"/>
              </a:rPr>
              <a:t>Proposed Architecture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530280" y="822960"/>
            <a:ext cx="10972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Aptos"/>
              </a:rPr>
              <a:t>One image-level classifier feeds both the diagnosis output and the Grad-CAM localization path.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2"/>
          <p:cNvSpPr/>
          <p:nvPr/>
        </p:nvSpPr>
        <p:spPr>
          <a:xfrm>
            <a:off x="548640" y="1828800"/>
            <a:ext cx="2102400" cy="91368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2700">
            <a:solidFill>
              <a:srgbClr val="b7cc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777240" y="2057400"/>
            <a:ext cx="1645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6324f"/>
                </a:solidFill>
                <a:latin typeface="Aptos"/>
              </a:rPr>
              <a:t>Chest X-ray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713160" y="2359080"/>
            <a:ext cx="1782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Aptos"/>
              </a:rPr>
              <a:t>DICOM → normalized tensor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5"/>
          <p:cNvSpPr/>
          <p:nvPr/>
        </p:nvSpPr>
        <p:spPr>
          <a:xfrm>
            <a:off x="2971800" y="1828800"/>
            <a:ext cx="2102400" cy="91368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2700">
            <a:solidFill>
              <a:srgbClr val="b7cc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3246120" y="2048400"/>
            <a:ext cx="1553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6324f"/>
                </a:solidFill>
                <a:latin typeface="Aptos"/>
              </a:rPr>
              <a:t>DenseNet121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3154680" y="2359080"/>
            <a:ext cx="1736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Aptos"/>
              </a:rPr>
              <a:t>ImageNet pretrained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8"/>
          <p:cNvSpPr/>
          <p:nvPr/>
        </p:nvSpPr>
        <p:spPr>
          <a:xfrm>
            <a:off x="5394960" y="1828800"/>
            <a:ext cx="2102400" cy="913680"/>
          </a:xfrm>
          <a:prstGeom prst="roundRect">
            <a:avLst>
              <a:gd name="adj" fmla="val 12000"/>
            </a:avLst>
          </a:prstGeom>
          <a:solidFill>
            <a:srgbClr val="eaf6f4"/>
          </a:solidFill>
          <a:ln w="12700">
            <a:solidFill>
              <a:srgbClr val="b8e0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9"/>
          <p:cNvSpPr/>
          <p:nvPr/>
        </p:nvSpPr>
        <p:spPr>
          <a:xfrm>
            <a:off x="5641920" y="2048400"/>
            <a:ext cx="1599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0f766e"/>
                </a:solidFill>
                <a:latin typeface="Aptos"/>
              </a:rPr>
              <a:t>Pneumonia logit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0"/>
          <p:cNvSpPr/>
          <p:nvPr/>
        </p:nvSpPr>
        <p:spPr>
          <a:xfrm>
            <a:off x="5605200" y="2359080"/>
            <a:ext cx="1690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222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Aptos"/>
              </a:rPr>
              <a:t>class probability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11"/>
          <p:cNvSpPr/>
          <p:nvPr/>
        </p:nvSpPr>
        <p:spPr>
          <a:xfrm>
            <a:off x="2651760" y="2286000"/>
            <a:ext cx="292320" cy="360"/>
          </a:xfrm>
          <a:prstGeom prst="line">
            <a:avLst/>
          </a:prstGeom>
          <a:ln w="25400">
            <a:solidFill>
              <a:srgbClr val="1f4e7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12"/>
          <p:cNvSpPr/>
          <p:nvPr/>
        </p:nvSpPr>
        <p:spPr>
          <a:xfrm>
            <a:off x="5083920" y="2286000"/>
            <a:ext cx="274320" cy="360"/>
          </a:xfrm>
          <a:prstGeom prst="line">
            <a:avLst/>
          </a:prstGeom>
          <a:ln w="25400">
            <a:solidFill>
              <a:srgbClr val="1f4e7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13"/>
          <p:cNvSpPr/>
          <p:nvPr/>
        </p:nvSpPr>
        <p:spPr>
          <a:xfrm>
            <a:off x="6446520" y="2761200"/>
            <a:ext cx="360" cy="695160"/>
          </a:xfrm>
          <a:prstGeom prst="line">
            <a:avLst/>
          </a:prstGeom>
          <a:ln w="25400">
            <a:solidFill>
              <a:srgbClr val="6d28d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14"/>
          <p:cNvSpPr/>
          <p:nvPr/>
        </p:nvSpPr>
        <p:spPr>
          <a:xfrm>
            <a:off x="3657600" y="3520440"/>
            <a:ext cx="2833920" cy="895320"/>
          </a:xfrm>
          <a:prstGeom prst="roundRect">
            <a:avLst>
              <a:gd name="adj" fmla="val 12245"/>
            </a:avLst>
          </a:prstGeom>
          <a:solidFill>
            <a:srgbClr val="f3eeff"/>
          </a:solidFill>
          <a:ln w="12700">
            <a:solidFill>
              <a:srgbClr val="d7c4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3977640" y="3730680"/>
            <a:ext cx="21938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6d28d9"/>
                </a:solidFill>
                <a:latin typeface="Aptos"/>
              </a:rPr>
              <a:t>Grad-CAM heatmap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6"/>
          <p:cNvSpPr/>
          <p:nvPr/>
        </p:nvSpPr>
        <p:spPr>
          <a:xfrm>
            <a:off x="3858840" y="4005000"/>
            <a:ext cx="2468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50000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Aptos"/>
              </a:rPr>
              <a:t>feature gradients + feature maps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17"/>
          <p:cNvSpPr/>
          <p:nvPr/>
        </p:nvSpPr>
        <p:spPr>
          <a:xfrm>
            <a:off x="6492240" y="3977640"/>
            <a:ext cx="640080" cy="360"/>
          </a:xfrm>
          <a:prstGeom prst="line">
            <a:avLst/>
          </a:prstGeom>
          <a:ln w="25400">
            <a:solidFill>
              <a:srgbClr val="6d28d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18"/>
          <p:cNvSpPr/>
          <p:nvPr/>
        </p:nvSpPr>
        <p:spPr>
          <a:xfrm>
            <a:off x="7269480" y="3520440"/>
            <a:ext cx="3748320" cy="895320"/>
          </a:xfrm>
          <a:prstGeom prst="roundRect">
            <a:avLst>
              <a:gd name="adj" fmla="val 12245"/>
            </a:avLst>
          </a:prstGeom>
          <a:solidFill>
            <a:srgbClr val="fff7e6"/>
          </a:solidFill>
          <a:ln w="12700">
            <a:solidFill>
              <a:srgbClr val="e9d2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19"/>
          <p:cNvSpPr/>
          <p:nvPr/>
        </p:nvSpPr>
        <p:spPr>
          <a:xfrm>
            <a:off x="7479720" y="3684960"/>
            <a:ext cx="33094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222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b45309"/>
                </a:solidFill>
                <a:latin typeface="Aptos"/>
              </a:rPr>
              <a:t>Adaptive thresholding + morphology + components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20"/>
          <p:cNvSpPr/>
          <p:nvPr/>
        </p:nvSpPr>
        <p:spPr>
          <a:xfrm>
            <a:off x="9144000" y="4416480"/>
            <a:ext cx="360" cy="301680"/>
          </a:xfrm>
          <a:prstGeom prst="line">
            <a:avLst/>
          </a:prstGeom>
          <a:ln w="25400">
            <a:solidFill>
              <a:srgbClr val="b4530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21"/>
          <p:cNvSpPr/>
          <p:nvPr/>
        </p:nvSpPr>
        <p:spPr>
          <a:xfrm>
            <a:off x="7223760" y="4773240"/>
            <a:ext cx="3839760" cy="867960"/>
          </a:xfrm>
          <a:prstGeom prst="roundRect">
            <a:avLst>
              <a:gd name="adj" fmla="val 12632"/>
            </a:avLst>
          </a:prstGeom>
          <a:solidFill>
            <a:srgbClr val="eaf6f4"/>
          </a:solidFill>
          <a:ln w="12700">
            <a:solidFill>
              <a:srgbClr val="b8e0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22"/>
          <p:cNvSpPr/>
          <p:nvPr/>
        </p:nvSpPr>
        <p:spPr>
          <a:xfrm>
            <a:off x="7470720" y="5010840"/>
            <a:ext cx="3336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0f766e"/>
                </a:solidFill>
                <a:latin typeface="Aptos"/>
              </a:rPr>
              <a:t>Output: prediction + Grad-CAM box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23"/>
          <p:cNvSpPr/>
          <p:nvPr/>
        </p:nvSpPr>
        <p:spPr>
          <a:xfrm>
            <a:off x="685800" y="5779080"/>
            <a:ext cx="10880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Aptos"/>
              </a:rPr>
              <a:t>Ground-truth boxes are used only after prediction for IoU evaluation.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sldNum" idx="9"/>
          </p:nvPr>
        </p:nvSpPr>
        <p:spPr>
          <a:xfrm>
            <a:off x="1179576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64748b"/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5D240B34-0B94-4C09-A083-F2C2BACB75C9}" type="slidenum">
              <a:rPr b="0" lang="en-US" sz="800" spc="-1" strike="noStrike">
                <a:solidFill>
                  <a:srgbClr val="64748b"/>
                </a:solidFill>
                <a:latin typeface="Aptos"/>
              </a:rPr>
              <a:t>5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0"/>
          <p:cNvSpPr/>
          <p:nvPr/>
        </p:nvSpPr>
        <p:spPr>
          <a:xfrm>
            <a:off x="502920" y="347400"/>
            <a:ext cx="110635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6324f"/>
                </a:solidFill>
                <a:latin typeface="Aptos"/>
              </a:rPr>
              <a:t>Training &amp; Evaluation Method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530280" y="822960"/>
            <a:ext cx="10972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Aptos"/>
              </a:rPr>
              <a:t>Final run configuration and the locked evaluation protocol.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2"/>
          <p:cNvSpPr/>
          <p:nvPr/>
        </p:nvSpPr>
        <p:spPr>
          <a:xfrm>
            <a:off x="594360" y="1280160"/>
            <a:ext cx="5348520" cy="45255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841320" y="1536120"/>
            <a:ext cx="3016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f4e79"/>
                </a:solidFill>
                <a:latin typeface="Aptos"/>
              </a:rPr>
              <a:t>FINAL TRAINING CONFIGURATION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4"/>
          <p:cNvSpPr/>
          <p:nvPr/>
        </p:nvSpPr>
        <p:spPr>
          <a:xfrm>
            <a:off x="859680" y="1901880"/>
            <a:ext cx="1736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64748b"/>
                </a:solidFill>
                <a:latin typeface="Aptos"/>
              </a:rPr>
              <a:t>Architecture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2423160" y="190188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Aptos"/>
              </a:rPr>
              <a:t>DenseNet121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6"/>
          <p:cNvSpPr/>
          <p:nvPr/>
        </p:nvSpPr>
        <p:spPr>
          <a:xfrm>
            <a:off x="859680" y="2277000"/>
            <a:ext cx="1736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64748b"/>
                </a:solidFill>
                <a:latin typeface="Aptos"/>
              </a:rPr>
              <a:t>Initialization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7"/>
          <p:cNvSpPr/>
          <p:nvPr/>
        </p:nvSpPr>
        <p:spPr>
          <a:xfrm>
            <a:off x="2423160" y="227700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Aptos"/>
              </a:rPr>
              <a:t>ImageNet pretrained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8"/>
          <p:cNvSpPr/>
          <p:nvPr/>
        </p:nvSpPr>
        <p:spPr>
          <a:xfrm>
            <a:off x="859680" y="2651760"/>
            <a:ext cx="1736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64748b"/>
                </a:solidFill>
                <a:latin typeface="Aptos"/>
              </a:rPr>
              <a:t>Input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9"/>
          <p:cNvSpPr/>
          <p:nvPr/>
        </p:nvSpPr>
        <p:spPr>
          <a:xfrm>
            <a:off x="2423160" y="265176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Aptos"/>
              </a:rPr>
              <a:t>224×224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0"/>
          <p:cNvSpPr/>
          <p:nvPr/>
        </p:nvSpPr>
        <p:spPr>
          <a:xfrm>
            <a:off x="859680" y="3026520"/>
            <a:ext cx="1736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64748b"/>
                </a:solidFill>
                <a:latin typeface="Aptos"/>
              </a:rPr>
              <a:t>Optimizer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1"/>
          <p:cNvSpPr/>
          <p:nvPr/>
        </p:nvSpPr>
        <p:spPr>
          <a:xfrm>
            <a:off x="2423160" y="3026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Aptos"/>
              </a:rPr>
              <a:t>AdamW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2"/>
          <p:cNvSpPr/>
          <p:nvPr/>
        </p:nvSpPr>
        <p:spPr>
          <a:xfrm>
            <a:off x="859680" y="3401640"/>
            <a:ext cx="1736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64748b"/>
                </a:solidFill>
                <a:latin typeface="Aptos"/>
              </a:rPr>
              <a:t>Learning rate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13"/>
          <p:cNvSpPr/>
          <p:nvPr/>
        </p:nvSpPr>
        <p:spPr>
          <a:xfrm>
            <a:off x="2423160" y="340164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Aptos"/>
              </a:rPr>
              <a:t>1e-4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14"/>
          <p:cNvSpPr/>
          <p:nvPr/>
        </p:nvSpPr>
        <p:spPr>
          <a:xfrm>
            <a:off x="859680" y="3776400"/>
            <a:ext cx="1736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64748b"/>
                </a:solidFill>
                <a:latin typeface="Aptos"/>
              </a:rPr>
              <a:t>Loss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15"/>
          <p:cNvSpPr/>
          <p:nvPr/>
        </p:nvSpPr>
        <p:spPr>
          <a:xfrm>
            <a:off x="2423160" y="377640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Aptos"/>
              </a:rPr>
              <a:t>Class-weighted BCE with logits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6"/>
          <p:cNvSpPr/>
          <p:nvPr/>
        </p:nvSpPr>
        <p:spPr>
          <a:xfrm>
            <a:off x="859680" y="4151520"/>
            <a:ext cx="1736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64748b"/>
                </a:solidFill>
                <a:latin typeface="Aptos"/>
              </a:rPr>
              <a:t>Batch size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7"/>
          <p:cNvSpPr/>
          <p:nvPr/>
        </p:nvSpPr>
        <p:spPr>
          <a:xfrm>
            <a:off x="2423160" y="4151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Aptos"/>
              </a:rPr>
              <a:t>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18"/>
          <p:cNvSpPr/>
          <p:nvPr/>
        </p:nvSpPr>
        <p:spPr>
          <a:xfrm>
            <a:off x="859680" y="4526280"/>
            <a:ext cx="1736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64748b"/>
                </a:solidFill>
                <a:latin typeface="Aptos"/>
              </a:rPr>
              <a:t>Epochs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9"/>
          <p:cNvSpPr/>
          <p:nvPr/>
        </p:nvSpPr>
        <p:spPr>
          <a:xfrm>
            <a:off x="2423160" y="452628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Aptos"/>
              </a:rPr>
              <a:t>6 completed • best epoch 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20"/>
          <p:cNvSpPr/>
          <p:nvPr/>
        </p:nvSpPr>
        <p:spPr>
          <a:xfrm>
            <a:off x="859680" y="4901040"/>
            <a:ext cx="1736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64748b"/>
                </a:solidFill>
                <a:latin typeface="Aptos"/>
              </a:rPr>
              <a:t>Device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21"/>
          <p:cNvSpPr/>
          <p:nvPr/>
        </p:nvSpPr>
        <p:spPr>
          <a:xfrm>
            <a:off x="2423160" y="490104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Aptos"/>
              </a:rPr>
              <a:t>Apple MPS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2"/>
          <p:cNvSpPr/>
          <p:nvPr/>
        </p:nvSpPr>
        <p:spPr>
          <a:xfrm>
            <a:off x="6217920" y="1280160"/>
            <a:ext cx="5348520" cy="4525560"/>
          </a:xfrm>
          <a:prstGeom prst="roundRect">
            <a:avLst>
              <a:gd name="adj" fmla="val 2424"/>
            </a:avLst>
          </a:prstGeom>
          <a:solidFill>
            <a:srgbClr val="f8fafc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23"/>
          <p:cNvSpPr/>
          <p:nvPr/>
        </p:nvSpPr>
        <p:spPr>
          <a:xfrm>
            <a:off x="6473880" y="1536120"/>
            <a:ext cx="23767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f766e"/>
                </a:solidFill>
                <a:latin typeface="Aptos"/>
              </a:rPr>
              <a:t>EVALUATION PROTOCOL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24"/>
          <p:cNvSpPr/>
          <p:nvPr/>
        </p:nvSpPr>
        <p:spPr>
          <a:xfrm>
            <a:off x="6473880" y="1847160"/>
            <a:ext cx="457128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marL="203040" indent="-20304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e293b"/>
                </a:solidFill>
                <a:latin typeface="Aptos"/>
              </a:rPr>
              <a:t>Thresholds tested on validation: 0.30 → 0.85.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e293b"/>
                </a:solidFill>
                <a:latin typeface="Aptos"/>
              </a:rPr>
              <a:t>Threshold 0.70 selected by highest validation F1; then frozen for test.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e293b"/>
                </a:solidFill>
                <a:latin typeface="Aptos"/>
              </a:rPr>
              <a:t>Classification evaluated on all 2,669 held-out test images.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e293b"/>
                </a:solidFill>
                <a:latin typeface="Aptos"/>
              </a:rPr>
              <a:t>Localization evaluated on 603 positive test images with ground-truth boxes.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e293b"/>
                </a:solidFill>
                <a:latin typeface="Aptos"/>
              </a:rPr>
              <a:t>Primary localization assigns IoU = 0 to classifier false negatives.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e293b"/>
                </a:solidFill>
                <a:latin typeface="Aptos"/>
              </a:rPr>
              <a:t>Independent localization is reported separately.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25"/>
          <p:cNvSpPr/>
          <p:nvPr/>
        </p:nvSpPr>
        <p:spPr>
          <a:xfrm>
            <a:off x="6473880" y="5074920"/>
            <a:ext cx="4525560" cy="502200"/>
          </a:xfrm>
          <a:prstGeom prst="roundRect">
            <a:avLst>
              <a:gd name="adj" fmla="val 16667"/>
            </a:avLst>
          </a:prstGeom>
          <a:solidFill>
            <a:srgbClr val="eaf6f4"/>
          </a:solidFill>
          <a:ln w="12700">
            <a:solidFill>
              <a:srgbClr val="b8e0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26"/>
          <p:cNvSpPr/>
          <p:nvPr/>
        </p:nvSpPr>
        <p:spPr>
          <a:xfrm>
            <a:off x="6638400" y="5230440"/>
            <a:ext cx="41598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f766e"/>
                </a:solidFill>
                <a:latin typeface="Aptos"/>
              </a:rPr>
              <a:t>Final threshold = 0.70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1"/>
          <p:cNvSpPr>
            <a:spLocks noGrp="1"/>
          </p:cNvSpPr>
          <p:nvPr>
            <p:ph type="sldNum" idx="10"/>
          </p:nvPr>
        </p:nvSpPr>
        <p:spPr>
          <a:xfrm>
            <a:off x="1179576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64748b"/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D5114158-B38D-46D6-A58B-50E1FDC8A620}" type="slidenum">
              <a:rPr b="0" lang="en-US" sz="800" spc="-1" strike="noStrike">
                <a:solidFill>
                  <a:srgbClr val="64748b"/>
                </a:solidFill>
                <a:latin typeface="Aptos"/>
              </a:rPr>
              <a:t>6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 0"/>
          <p:cNvSpPr/>
          <p:nvPr/>
        </p:nvSpPr>
        <p:spPr>
          <a:xfrm>
            <a:off x="502920" y="347400"/>
            <a:ext cx="110635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6324f"/>
                </a:solidFill>
                <a:latin typeface="Aptos"/>
              </a:rPr>
              <a:t>Classification Results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"/>
          <p:cNvSpPr/>
          <p:nvPr/>
        </p:nvSpPr>
        <p:spPr>
          <a:xfrm>
            <a:off x="530280" y="822960"/>
            <a:ext cx="10972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Aptos"/>
              </a:rPr>
              <a:t>Held-out test performance at the validation-selected threshold of 0.70.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2"/>
          <p:cNvSpPr/>
          <p:nvPr/>
        </p:nvSpPr>
        <p:spPr>
          <a:xfrm>
            <a:off x="640080" y="1353240"/>
            <a:ext cx="2331000" cy="105084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3"/>
          <p:cNvSpPr/>
          <p:nvPr/>
        </p:nvSpPr>
        <p:spPr>
          <a:xfrm>
            <a:off x="640080" y="1353240"/>
            <a:ext cx="72360" cy="1050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4"/>
          <p:cNvSpPr/>
          <p:nvPr/>
        </p:nvSpPr>
        <p:spPr>
          <a:xfrm>
            <a:off x="804600" y="1463040"/>
            <a:ext cx="20566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f172a"/>
                </a:solidFill>
                <a:latin typeface="Aptos"/>
              </a:rPr>
              <a:t>82.73%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5"/>
          <p:cNvSpPr/>
          <p:nvPr/>
        </p:nvSpPr>
        <p:spPr>
          <a:xfrm>
            <a:off x="804600" y="1883520"/>
            <a:ext cx="21024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</a:rPr>
              <a:t>Accuracy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6"/>
          <p:cNvSpPr/>
          <p:nvPr/>
        </p:nvSpPr>
        <p:spPr>
          <a:xfrm>
            <a:off x="3246120" y="1353240"/>
            <a:ext cx="2331000" cy="105084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7"/>
          <p:cNvSpPr/>
          <p:nvPr/>
        </p:nvSpPr>
        <p:spPr>
          <a:xfrm>
            <a:off x="3246120" y="1353240"/>
            <a:ext cx="72360" cy="10508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8"/>
          <p:cNvSpPr/>
          <p:nvPr/>
        </p:nvSpPr>
        <p:spPr>
          <a:xfrm>
            <a:off x="3410640" y="1463040"/>
            <a:ext cx="20566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f172a"/>
                </a:solidFill>
                <a:latin typeface="Aptos"/>
              </a:rPr>
              <a:t>60.44%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9"/>
          <p:cNvSpPr/>
          <p:nvPr/>
        </p:nvSpPr>
        <p:spPr>
          <a:xfrm>
            <a:off x="3410640" y="1883520"/>
            <a:ext cx="21024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</a:rPr>
              <a:t>Precision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10"/>
          <p:cNvSpPr/>
          <p:nvPr/>
        </p:nvSpPr>
        <p:spPr>
          <a:xfrm>
            <a:off x="5852160" y="1353240"/>
            <a:ext cx="2331000" cy="105084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11"/>
          <p:cNvSpPr/>
          <p:nvPr/>
        </p:nvSpPr>
        <p:spPr>
          <a:xfrm>
            <a:off x="5852160" y="1353240"/>
            <a:ext cx="72360" cy="10508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12"/>
          <p:cNvSpPr/>
          <p:nvPr/>
        </p:nvSpPr>
        <p:spPr>
          <a:xfrm>
            <a:off x="6016680" y="1463040"/>
            <a:ext cx="20566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f172a"/>
                </a:solidFill>
                <a:latin typeface="Aptos"/>
              </a:rPr>
              <a:t>68.16%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13"/>
          <p:cNvSpPr/>
          <p:nvPr/>
        </p:nvSpPr>
        <p:spPr>
          <a:xfrm>
            <a:off x="6016680" y="1883520"/>
            <a:ext cx="21024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</a:rPr>
              <a:t>Sensitivity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14"/>
          <p:cNvSpPr/>
          <p:nvPr/>
        </p:nvSpPr>
        <p:spPr>
          <a:xfrm>
            <a:off x="640080" y="2679120"/>
            <a:ext cx="2331000" cy="105084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5"/>
          <p:cNvSpPr/>
          <p:nvPr/>
        </p:nvSpPr>
        <p:spPr>
          <a:xfrm>
            <a:off x="640080" y="2679120"/>
            <a:ext cx="72360" cy="1050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16"/>
          <p:cNvSpPr/>
          <p:nvPr/>
        </p:nvSpPr>
        <p:spPr>
          <a:xfrm>
            <a:off x="804600" y="2788920"/>
            <a:ext cx="20566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f172a"/>
                </a:solidFill>
                <a:latin typeface="Aptos"/>
              </a:rPr>
              <a:t>86.98%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7"/>
          <p:cNvSpPr/>
          <p:nvPr/>
        </p:nvSpPr>
        <p:spPr>
          <a:xfrm>
            <a:off x="804600" y="3209400"/>
            <a:ext cx="21024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</a:rPr>
              <a:t>Specificity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18"/>
          <p:cNvSpPr/>
          <p:nvPr/>
        </p:nvSpPr>
        <p:spPr>
          <a:xfrm>
            <a:off x="3246120" y="2679120"/>
            <a:ext cx="2331000" cy="105084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19"/>
          <p:cNvSpPr/>
          <p:nvPr/>
        </p:nvSpPr>
        <p:spPr>
          <a:xfrm>
            <a:off x="3246120" y="2679120"/>
            <a:ext cx="72360" cy="10508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20"/>
          <p:cNvSpPr/>
          <p:nvPr/>
        </p:nvSpPr>
        <p:spPr>
          <a:xfrm>
            <a:off x="3410640" y="2788920"/>
            <a:ext cx="20566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f172a"/>
                </a:solidFill>
                <a:latin typeface="Aptos"/>
              </a:rPr>
              <a:t>64.07%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21"/>
          <p:cNvSpPr/>
          <p:nvPr/>
        </p:nvSpPr>
        <p:spPr>
          <a:xfrm>
            <a:off x="3410640" y="3209400"/>
            <a:ext cx="21024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</a:rPr>
              <a:t>F1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22"/>
          <p:cNvSpPr/>
          <p:nvPr/>
        </p:nvSpPr>
        <p:spPr>
          <a:xfrm>
            <a:off x="5852160" y="2679120"/>
            <a:ext cx="2331000" cy="105084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23"/>
          <p:cNvSpPr/>
          <p:nvPr/>
        </p:nvSpPr>
        <p:spPr>
          <a:xfrm>
            <a:off x="5852160" y="2679120"/>
            <a:ext cx="72360" cy="10508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24"/>
          <p:cNvSpPr/>
          <p:nvPr/>
        </p:nvSpPr>
        <p:spPr>
          <a:xfrm>
            <a:off x="6016680" y="2788920"/>
            <a:ext cx="20566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f172a"/>
                </a:solidFill>
                <a:latin typeface="Aptos"/>
              </a:rPr>
              <a:t>88.15%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25"/>
          <p:cNvSpPr/>
          <p:nvPr/>
        </p:nvSpPr>
        <p:spPr>
          <a:xfrm>
            <a:off x="6016680" y="3209400"/>
            <a:ext cx="21024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</a:rPr>
              <a:t>AUROC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26"/>
          <p:cNvSpPr/>
          <p:nvPr/>
        </p:nvSpPr>
        <p:spPr>
          <a:xfrm>
            <a:off x="8522280" y="1353240"/>
            <a:ext cx="3062520" cy="2376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27"/>
          <p:cNvSpPr/>
          <p:nvPr/>
        </p:nvSpPr>
        <p:spPr>
          <a:xfrm>
            <a:off x="8796600" y="1591200"/>
            <a:ext cx="2513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172a"/>
                </a:solidFill>
                <a:latin typeface="Aptos"/>
              </a:rPr>
              <a:t>Confusion matrix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28"/>
          <p:cNvSpPr/>
          <p:nvPr/>
        </p:nvSpPr>
        <p:spPr>
          <a:xfrm>
            <a:off x="9555480" y="199332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4748b"/>
                </a:solidFill>
                <a:latin typeface="Aptos"/>
              </a:rPr>
              <a:t>Pred −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29"/>
          <p:cNvSpPr/>
          <p:nvPr/>
        </p:nvSpPr>
        <p:spPr>
          <a:xfrm>
            <a:off x="10515600" y="199332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4748b"/>
                </a:solidFill>
                <a:latin typeface="Aptos"/>
              </a:rPr>
              <a:t>Pred +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30"/>
          <p:cNvSpPr/>
          <p:nvPr/>
        </p:nvSpPr>
        <p:spPr>
          <a:xfrm>
            <a:off x="8641080" y="2313360"/>
            <a:ext cx="776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4748b"/>
                </a:solidFill>
                <a:latin typeface="Aptos"/>
              </a:rPr>
              <a:t>Actual −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31"/>
          <p:cNvSpPr/>
          <p:nvPr/>
        </p:nvSpPr>
        <p:spPr>
          <a:xfrm>
            <a:off x="8641080" y="2898720"/>
            <a:ext cx="776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4748b"/>
                </a:solidFill>
                <a:latin typeface="Aptos"/>
              </a:rPr>
              <a:t>Actual +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32"/>
          <p:cNvSpPr/>
          <p:nvPr/>
        </p:nvSpPr>
        <p:spPr>
          <a:xfrm>
            <a:off x="9372600" y="2148840"/>
            <a:ext cx="959400" cy="566280"/>
          </a:xfrm>
          <a:prstGeom prst="rect">
            <a:avLst/>
          </a:prstGeom>
          <a:solidFill>
            <a:srgbClr val="eaf1f8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33"/>
          <p:cNvSpPr/>
          <p:nvPr/>
        </p:nvSpPr>
        <p:spPr>
          <a:xfrm>
            <a:off x="8942760" y="2313360"/>
            <a:ext cx="9594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f172a"/>
                </a:solidFill>
                <a:latin typeface="Aptos"/>
              </a:rPr>
              <a:t>          </a:t>
            </a:r>
            <a:r>
              <a:rPr b="1" lang="en-US" sz="1500" spc="-1" strike="noStrike">
                <a:solidFill>
                  <a:srgbClr val="0f172a"/>
                </a:solidFill>
                <a:latin typeface="Aptos"/>
              </a:rPr>
              <a:t>1797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34"/>
          <p:cNvSpPr/>
          <p:nvPr/>
        </p:nvSpPr>
        <p:spPr>
          <a:xfrm>
            <a:off x="10242000" y="2148840"/>
            <a:ext cx="959400" cy="566280"/>
          </a:xfrm>
          <a:prstGeom prst="rect">
            <a:avLst/>
          </a:prstGeom>
          <a:solidFill>
            <a:srgbClr val="fff7e6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35"/>
          <p:cNvSpPr/>
          <p:nvPr/>
        </p:nvSpPr>
        <p:spPr>
          <a:xfrm>
            <a:off x="9902880" y="2313360"/>
            <a:ext cx="9594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f172a"/>
                </a:solidFill>
                <a:latin typeface="Aptos"/>
              </a:rPr>
              <a:t>      </a:t>
            </a:r>
            <a:r>
              <a:rPr b="1" lang="en-US" sz="1500" spc="-1" strike="noStrike">
                <a:solidFill>
                  <a:srgbClr val="0f172a"/>
                </a:solidFill>
                <a:latin typeface="Aptos"/>
              </a:rPr>
              <a:t>269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36"/>
          <p:cNvSpPr/>
          <p:nvPr/>
        </p:nvSpPr>
        <p:spPr>
          <a:xfrm>
            <a:off x="9372600" y="2734200"/>
            <a:ext cx="959400" cy="566280"/>
          </a:xfrm>
          <a:prstGeom prst="rect">
            <a:avLst/>
          </a:prstGeom>
          <a:solidFill>
            <a:srgbClr val="feece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37"/>
          <p:cNvSpPr/>
          <p:nvPr/>
        </p:nvSpPr>
        <p:spPr>
          <a:xfrm>
            <a:off x="8942760" y="2898720"/>
            <a:ext cx="9594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f172a"/>
                </a:solidFill>
                <a:latin typeface="Aptos"/>
              </a:rPr>
              <a:t>        </a:t>
            </a:r>
            <a:r>
              <a:rPr b="1" lang="en-US" sz="1500" spc="-1" strike="noStrike">
                <a:solidFill>
                  <a:srgbClr val="0f172a"/>
                </a:solidFill>
                <a:latin typeface="Aptos"/>
              </a:rPr>
              <a:t>192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38"/>
          <p:cNvSpPr/>
          <p:nvPr/>
        </p:nvSpPr>
        <p:spPr>
          <a:xfrm>
            <a:off x="10242000" y="2734200"/>
            <a:ext cx="959400" cy="566280"/>
          </a:xfrm>
          <a:prstGeom prst="rect">
            <a:avLst/>
          </a:prstGeom>
          <a:solidFill>
            <a:srgbClr val="eaf6f4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39"/>
          <p:cNvSpPr/>
          <p:nvPr/>
        </p:nvSpPr>
        <p:spPr>
          <a:xfrm>
            <a:off x="10058400" y="2898720"/>
            <a:ext cx="9594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f172a"/>
                </a:solidFill>
                <a:latin typeface="Aptos"/>
              </a:rPr>
              <a:t>411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40"/>
          <p:cNvSpPr/>
          <p:nvPr/>
        </p:nvSpPr>
        <p:spPr>
          <a:xfrm>
            <a:off x="640080" y="4343400"/>
            <a:ext cx="10926360" cy="1480680"/>
          </a:xfrm>
          <a:prstGeom prst="roundRect">
            <a:avLst>
              <a:gd name="adj" fmla="val 7407"/>
            </a:avLst>
          </a:prstGeom>
          <a:solidFill>
            <a:srgbClr val="e8f1f8"/>
          </a:solidFill>
          <a:ln w="12700">
            <a:solidFill>
              <a:srgbClr val="b7cc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41"/>
          <p:cNvSpPr/>
          <p:nvPr/>
        </p:nvSpPr>
        <p:spPr>
          <a:xfrm>
            <a:off x="868680" y="4590360"/>
            <a:ext cx="1050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f4e79"/>
                </a:solidFill>
                <a:latin typeface="Aptos"/>
              </a:rPr>
              <a:t>Takeaway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42"/>
          <p:cNvSpPr/>
          <p:nvPr/>
        </p:nvSpPr>
        <p:spPr>
          <a:xfrm>
            <a:off x="1828800" y="4553640"/>
            <a:ext cx="9280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e293b"/>
                </a:solidFill>
                <a:latin typeface="Aptos"/>
              </a:rPr>
              <a:t>  </a:t>
            </a:r>
            <a:r>
              <a:rPr b="0" lang="en-US" sz="1700" spc="-1" strike="noStrike">
                <a:solidFill>
                  <a:srgbClr val="1e293b"/>
                </a:solidFill>
                <a:latin typeface="Aptos"/>
              </a:rPr>
              <a:t>The final model has good discrimination (AUROC 0.8815). The operating point favors a       useful sensitivity/specificity balance, while localization is evaluated separately.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1"/>
          <p:cNvSpPr>
            <a:spLocks noGrp="1"/>
          </p:cNvSpPr>
          <p:nvPr>
            <p:ph type="sldNum" idx="11"/>
          </p:nvPr>
        </p:nvSpPr>
        <p:spPr>
          <a:xfrm>
            <a:off x="1179576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64748b"/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2C23FC7B-06B2-42B1-9FDC-59F1429C5769}" type="slidenum">
              <a:rPr b="0" lang="en-US" sz="800" spc="-1" strike="noStrike">
                <a:solidFill>
                  <a:srgbClr val="64748b"/>
                </a:solidFill>
                <a:latin typeface="Aptos"/>
              </a:rPr>
              <a:t>7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 0"/>
          <p:cNvSpPr/>
          <p:nvPr/>
        </p:nvSpPr>
        <p:spPr>
          <a:xfrm>
            <a:off x="502920" y="347400"/>
            <a:ext cx="110635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6324f"/>
                </a:solidFill>
                <a:latin typeface="Aptos"/>
              </a:rPr>
              <a:t>Localization Results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1"/>
          <p:cNvSpPr/>
          <p:nvPr/>
        </p:nvSpPr>
        <p:spPr>
          <a:xfrm>
            <a:off x="530280" y="822960"/>
            <a:ext cx="10972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Aptos"/>
              </a:rPr>
              <a:t>Weakly supervised Grad-CAM localization improved substantially at 224×224.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2"/>
          <p:cNvSpPr/>
          <p:nvPr/>
        </p:nvSpPr>
        <p:spPr>
          <a:xfrm>
            <a:off x="621720" y="1353240"/>
            <a:ext cx="6491520" cy="447984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3"/>
          <p:cNvSpPr/>
          <p:nvPr/>
        </p:nvSpPr>
        <p:spPr>
          <a:xfrm>
            <a:off x="896040" y="1627560"/>
            <a:ext cx="3839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f172a"/>
                </a:solidFill>
                <a:latin typeface="Aptos"/>
              </a:rPr>
              <a:t>128×128 baseline vs 224×224 final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4"/>
          <p:cNvSpPr/>
          <p:nvPr/>
        </p:nvSpPr>
        <p:spPr>
          <a:xfrm>
            <a:off x="932760" y="2057400"/>
            <a:ext cx="2331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f4e79"/>
                </a:solidFill>
                <a:latin typeface="Aptos"/>
              </a:rPr>
              <a:t>Metric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5"/>
          <p:cNvSpPr/>
          <p:nvPr/>
        </p:nvSpPr>
        <p:spPr>
          <a:xfrm>
            <a:off x="3264480" y="2057400"/>
            <a:ext cx="1508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f4e79"/>
                </a:solidFill>
                <a:latin typeface="Aptos"/>
              </a:rPr>
              <a:t>128×128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6"/>
          <p:cNvSpPr/>
          <p:nvPr/>
        </p:nvSpPr>
        <p:spPr>
          <a:xfrm>
            <a:off x="4773240" y="2057400"/>
            <a:ext cx="1508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f4e79"/>
                </a:solidFill>
                <a:latin typeface="Aptos"/>
              </a:rPr>
              <a:t>224×224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7"/>
          <p:cNvSpPr/>
          <p:nvPr/>
        </p:nvSpPr>
        <p:spPr>
          <a:xfrm>
            <a:off x="932760" y="2560320"/>
            <a:ext cx="2331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Aptos"/>
              </a:rPr>
              <a:t>Mean IoU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8"/>
          <p:cNvSpPr/>
          <p:nvPr/>
        </p:nvSpPr>
        <p:spPr>
          <a:xfrm>
            <a:off x="3264480" y="2560320"/>
            <a:ext cx="1508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e293b"/>
                </a:solidFill>
                <a:latin typeface="Aptos"/>
              </a:rPr>
              <a:t>0.1038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9"/>
          <p:cNvSpPr/>
          <p:nvPr/>
        </p:nvSpPr>
        <p:spPr>
          <a:xfrm>
            <a:off x="4773240" y="2560320"/>
            <a:ext cx="1508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5803d"/>
                </a:solidFill>
                <a:latin typeface="Aptos"/>
              </a:rPr>
              <a:t>0.2051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10"/>
          <p:cNvSpPr/>
          <p:nvPr/>
        </p:nvSpPr>
        <p:spPr>
          <a:xfrm>
            <a:off x="932760" y="3200400"/>
            <a:ext cx="2331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Aptos"/>
              </a:rPr>
              <a:t>Median IoU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11"/>
          <p:cNvSpPr/>
          <p:nvPr/>
        </p:nvSpPr>
        <p:spPr>
          <a:xfrm>
            <a:off x="3264480" y="3200400"/>
            <a:ext cx="1508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e293b"/>
                </a:solidFill>
                <a:latin typeface="Aptos"/>
              </a:rPr>
              <a:t>0.0645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12"/>
          <p:cNvSpPr/>
          <p:nvPr/>
        </p:nvSpPr>
        <p:spPr>
          <a:xfrm>
            <a:off x="4773240" y="3200400"/>
            <a:ext cx="1508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5803d"/>
                </a:solidFill>
                <a:latin typeface="Aptos"/>
              </a:rPr>
              <a:t>0.1880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13"/>
          <p:cNvSpPr/>
          <p:nvPr/>
        </p:nvSpPr>
        <p:spPr>
          <a:xfrm>
            <a:off x="932760" y="3840480"/>
            <a:ext cx="2331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Aptos"/>
              </a:rPr>
              <a:t>IoU ≥ 0.3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14"/>
          <p:cNvSpPr/>
          <p:nvPr/>
        </p:nvSpPr>
        <p:spPr>
          <a:xfrm>
            <a:off x="3264480" y="3840480"/>
            <a:ext cx="1508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e293b"/>
                </a:solidFill>
                <a:latin typeface="Aptos"/>
              </a:rPr>
              <a:t>9.95%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15"/>
          <p:cNvSpPr/>
          <p:nvPr/>
        </p:nvSpPr>
        <p:spPr>
          <a:xfrm>
            <a:off x="4773240" y="3840480"/>
            <a:ext cx="1508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5803d"/>
                </a:solidFill>
                <a:latin typeface="Aptos"/>
              </a:rPr>
              <a:t>34.00%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16"/>
          <p:cNvSpPr/>
          <p:nvPr/>
        </p:nvSpPr>
        <p:spPr>
          <a:xfrm>
            <a:off x="932760" y="4480560"/>
            <a:ext cx="2331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Aptos"/>
              </a:rPr>
              <a:t>IoU ≥ 0.5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17"/>
          <p:cNvSpPr/>
          <p:nvPr/>
        </p:nvSpPr>
        <p:spPr>
          <a:xfrm>
            <a:off x="3264480" y="4480560"/>
            <a:ext cx="1508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e293b"/>
                </a:solidFill>
                <a:latin typeface="Aptos"/>
              </a:rPr>
              <a:t>0.50%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18"/>
          <p:cNvSpPr/>
          <p:nvPr/>
        </p:nvSpPr>
        <p:spPr>
          <a:xfrm>
            <a:off x="4773240" y="4480560"/>
            <a:ext cx="1508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5803d"/>
                </a:solidFill>
                <a:latin typeface="Aptos"/>
              </a:rPr>
              <a:t>5.97%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19"/>
          <p:cNvSpPr/>
          <p:nvPr/>
        </p:nvSpPr>
        <p:spPr>
          <a:xfrm>
            <a:off x="932760" y="5074920"/>
            <a:ext cx="5668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</a:rPr>
              <a:t>Independent localization (final): mean IoU 0.2307; IoU ≥ 0.3 = 37.81%; IoU ≥ 0.5 = 6.47%.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20"/>
          <p:cNvSpPr/>
          <p:nvPr/>
        </p:nvSpPr>
        <p:spPr>
          <a:xfrm>
            <a:off x="7360920" y="1353240"/>
            <a:ext cx="4205520" cy="4479840"/>
          </a:xfrm>
          <a:prstGeom prst="roundRect">
            <a:avLst>
              <a:gd name="adj" fmla="val 2609"/>
            </a:avLst>
          </a:prstGeom>
          <a:solidFill>
            <a:srgbClr val="eff7fb"/>
          </a:solidFill>
          <a:ln w="12700">
            <a:solidFill>
              <a:srgbClr val="cfe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21"/>
          <p:cNvSpPr/>
          <p:nvPr/>
        </p:nvSpPr>
        <p:spPr>
          <a:xfrm>
            <a:off x="7635240" y="1627560"/>
            <a:ext cx="1828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e7490"/>
                </a:solidFill>
                <a:latin typeface="Aptos"/>
              </a:rPr>
              <a:t>IMPROVEMENT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22"/>
          <p:cNvSpPr/>
          <p:nvPr/>
        </p:nvSpPr>
        <p:spPr>
          <a:xfrm>
            <a:off x="7635240" y="2148840"/>
            <a:ext cx="12794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64748b"/>
                </a:solidFill>
                <a:latin typeface="Aptos"/>
              </a:rPr>
              <a:t>Mean IoU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23"/>
          <p:cNvSpPr/>
          <p:nvPr/>
        </p:nvSpPr>
        <p:spPr>
          <a:xfrm>
            <a:off x="9006840" y="2167200"/>
            <a:ext cx="1599480" cy="1731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24"/>
          <p:cNvSpPr/>
          <p:nvPr/>
        </p:nvSpPr>
        <p:spPr>
          <a:xfrm>
            <a:off x="9006840" y="2404800"/>
            <a:ext cx="1599480" cy="173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25"/>
          <p:cNvSpPr/>
          <p:nvPr/>
        </p:nvSpPr>
        <p:spPr>
          <a:xfrm>
            <a:off x="9006840" y="2167200"/>
            <a:ext cx="165240" cy="1731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Shape 26"/>
          <p:cNvSpPr/>
          <p:nvPr/>
        </p:nvSpPr>
        <p:spPr>
          <a:xfrm>
            <a:off x="9006840" y="2404800"/>
            <a:ext cx="327600" cy="173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27"/>
          <p:cNvSpPr/>
          <p:nvPr/>
        </p:nvSpPr>
        <p:spPr>
          <a:xfrm>
            <a:off x="8229600" y="2148840"/>
            <a:ext cx="685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Baseline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28"/>
          <p:cNvSpPr/>
          <p:nvPr/>
        </p:nvSpPr>
        <p:spPr>
          <a:xfrm>
            <a:off x="8229600" y="2377440"/>
            <a:ext cx="685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Final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29"/>
          <p:cNvSpPr/>
          <p:nvPr/>
        </p:nvSpPr>
        <p:spPr>
          <a:xfrm>
            <a:off x="10698480" y="213048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f4e79"/>
                </a:solidFill>
                <a:latin typeface="Aptos"/>
              </a:rPr>
              <a:t>10.38%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30"/>
          <p:cNvSpPr/>
          <p:nvPr/>
        </p:nvSpPr>
        <p:spPr>
          <a:xfrm>
            <a:off x="10698480" y="236844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f766e"/>
                </a:solidFill>
                <a:latin typeface="Aptos"/>
              </a:rPr>
              <a:t>20.51%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31"/>
          <p:cNvSpPr/>
          <p:nvPr/>
        </p:nvSpPr>
        <p:spPr>
          <a:xfrm>
            <a:off x="7635240" y="3081600"/>
            <a:ext cx="12794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64748b"/>
                </a:solidFill>
                <a:latin typeface="Aptos"/>
              </a:rPr>
              <a:t>IoU ≥ 0.3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32"/>
          <p:cNvSpPr/>
          <p:nvPr/>
        </p:nvSpPr>
        <p:spPr>
          <a:xfrm>
            <a:off x="9006840" y="3099960"/>
            <a:ext cx="1599480" cy="1731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33"/>
          <p:cNvSpPr/>
          <p:nvPr/>
        </p:nvSpPr>
        <p:spPr>
          <a:xfrm>
            <a:off x="9006840" y="3337560"/>
            <a:ext cx="1599480" cy="173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Shape 34"/>
          <p:cNvSpPr/>
          <p:nvPr/>
        </p:nvSpPr>
        <p:spPr>
          <a:xfrm>
            <a:off x="9006840" y="3099960"/>
            <a:ext cx="158400" cy="1731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Shape 35"/>
          <p:cNvSpPr/>
          <p:nvPr/>
        </p:nvSpPr>
        <p:spPr>
          <a:xfrm>
            <a:off x="9006840" y="3337560"/>
            <a:ext cx="543240" cy="173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36"/>
          <p:cNvSpPr/>
          <p:nvPr/>
        </p:nvSpPr>
        <p:spPr>
          <a:xfrm>
            <a:off x="8229600" y="3081600"/>
            <a:ext cx="685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Baseline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37"/>
          <p:cNvSpPr/>
          <p:nvPr/>
        </p:nvSpPr>
        <p:spPr>
          <a:xfrm>
            <a:off x="8229600" y="3310200"/>
            <a:ext cx="685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Final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38"/>
          <p:cNvSpPr/>
          <p:nvPr/>
        </p:nvSpPr>
        <p:spPr>
          <a:xfrm>
            <a:off x="10698480" y="306324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f4e79"/>
                </a:solidFill>
                <a:latin typeface="Aptos"/>
              </a:rPr>
              <a:t>9.95%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39"/>
          <p:cNvSpPr/>
          <p:nvPr/>
        </p:nvSpPr>
        <p:spPr>
          <a:xfrm>
            <a:off x="10698480" y="330084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f766e"/>
                </a:solidFill>
                <a:latin typeface="Aptos"/>
              </a:rPr>
              <a:t>34.00%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40"/>
          <p:cNvSpPr/>
          <p:nvPr/>
        </p:nvSpPr>
        <p:spPr>
          <a:xfrm>
            <a:off x="7635240" y="4014360"/>
            <a:ext cx="12794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64748b"/>
                </a:solidFill>
                <a:latin typeface="Aptos"/>
              </a:rPr>
              <a:t>IoU ≥ 0.5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41"/>
          <p:cNvSpPr/>
          <p:nvPr/>
        </p:nvSpPr>
        <p:spPr>
          <a:xfrm>
            <a:off x="9006840" y="4032360"/>
            <a:ext cx="1599480" cy="1731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42"/>
          <p:cNvSpPr/>
          <p:nvPr/>
        </p:nvSpPr>
        <p:spPr>
          <a:xfrm>
            <a:off x="9006840" y="4270320"/>
            <a:ext cx="1599480" cy="173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Shape 43"/>
          <p:cNvSpPr/>
          <p:nvPr/>
        </p:nvSpPr>
        <p:spPr>
          <a:xfrm>
            <a:off x="9006840" y="4032360"/>
            <a:ext cx="7200" cy="1731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Shape 44"/>
          <p:cNvSpPr/>
          <p:nvPr/>
        </p:nvSpPr>
        <p:spPr>
          <a:xfrm>
            <a:off x="9006840" y="4270320"/>
            <a:ext cx="94680" cy="173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 45"/>
          <p:cNvSpPr/>
          <p:nvPr/>
        </p:nvSpPr>
        <p:spPr>
          <a:xfrm>
            <a:off x="8229600" y="4014360"/>
            <a:ext cx="685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Baseline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46"/>
          <p:cNvSpPr/>
          <p:nvPr/>
        </p:nvSpPr>
        <p:spPr>
          <a:xfrm>
            <a:off x="8229600" y="4242960"/>
            <a:ext cx="685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Final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47"/>
          <p:cNvSpPr/>
          <p:nvPr/>
        </p:nvSpPr>
        <p:spPr>
          <a:xfrm>
            <a:off x="10698480" y="399600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f4e79"/>
                </a:solidFill>
                <a:latin typeface="Aptos"/>
              </a:rPr>
              <a:t>0.50%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48"/>
          <p:cNvSpPr/>
          <p:nvPr/>
        </p:nvSpPr>
        <p:spPr>
          <a:xfrm>
            <a:off x="10698480" y="4233600"/>
            <a:ext cx="547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f766e"/>
                </a:solidFill>
                <a:latin typeface="Aptos"/>
              </a:rPr>
              <a:t>5.97%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49"/>
          <p:cNvSpPr/>
          <p:nvPr/>
        </p:nvSpPr>
        <p:spPr>
          <a:xfrm>
            <a:off x="7635240" y="4983480"/>
            <a:ext cx="35197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1111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b91c1c"/>
                </a:solidFill>
                <a:latin typeface="Aptos"/>
              </a:rPr>
              <a:t>Localization remains coarse; Grad-CAM is an explanation, not a validated lesion outline.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1"/>
          <p:cNvSpPr>
            <a:spLocks noGrp="1"/>
          </p:cNvSpPr>
          <p:nvPr>
            <p:ph type="sldNum" idx="12"/>
          </p:nvPr>
        </p:nvSpPr>
        <p:spPr>
          <a:xfrm>
            <a:off x="1179576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64748b"/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6CAD74FC-8813-4480-83E4-3B8898210284}" type="slidenum">
              <a:rPr b="0" lang="en-US" sz="800" spc="-1" strike="noStrike">
                <a:solidFill>
                  <a:srgbClr val="64748b"/>
                </a:solidFill>
                <a:latin typeface="Aptos"/>
              </a:rPr>
              <a:t>8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 0"/>
          <p:cNvSpPr/>
          <p:nvPr/>
        </p:nvSpPr>
        <p:spPr>
          <a:xfrm>
            <a:off x="502920" y="347400"/>
            <a:ext cx="110635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6324f"/>
                </a:solidFill>
                <a:latin typeface="Aptos"/>
              </a:rPr>
              <a:t>Live Demo &amp; What the Model Produces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1"/>
          <p:cNvSpPr/>
          <p:nvPr/>
        </p:nvSpPr>
        <p:spPr>
          <a:xfrm>
            <a:off x="530280" y="822960"/>
            <a:ext cx="10972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Aptos"/>
              </a:rPr>
              <a:t>Keep this slide visual and use it as the transition into the live Streamlit demonstration.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2"/>
          <p:cNvSpPr/>
          <p:nvPr/>
        </p:nvSpPr>
        <p:spPr>
          <a:xfrm>
            <a:off x="594360" y="1508760"/>
            <a:ext cx="2468160" cy="18738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3"/>
          <p:cNvSpPr/>
          <p:nvPr/>
        </p:nvSpPr>
        <p:spPr>
          <a:xfrm>
            <a:off x="1463040" y="1783080"/>
            <a:ext cx="657720" cy="6577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4"/>
          <p:cNvSpPr/>
          <p:nvPr/>
        </p:nvSpPr>
        <p:spPr>
          <a:xfrm>
            <a:off x="1609200" y="1947600"/>
            <a:ext cx="346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</a:rPr>
              <a:t>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5"/>
          <p:cNvSpPr/>
          <p:nvPr/>
        </p:nvSpPr>
        <p:spPr>
          <a:xfrm>
            <a:off x="1005840" y="2541960"/>
            <a:ext cx="164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172a"/>
                </a:solidFill>
                <a:latin typeface="Aptos"/>
              </a:rPr>
              <a:t>Upload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6"/>
          <p:cNvSpPr/>
          <p:nvPr/>
        </p:nvSpPr>
        <p:spPr>
          <a:xfrm>
            <a:off x="822960" y="2889360"/>
            <a:ext cx="2010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</a:rPr>
              <a:t>PNG / JPG / DICOM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7"/>
          <p:cNvSpPr/>
          <p:nvPr/>
        </p:nvSpPr>
        <p:spPr>
          <a:xfrm>
            <a:off x="3081240" y="2441160"/>
            <a:ext cx="256320" cy="360"/>
          </a:xfrm>
          <a:prstGeom prst="line">
            <a:avLst/>
          </a:prstGeom>
          <a:ln w="25400">
            <a:solidFill>
              <a:srgbClr val="1f4e7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8"/>
          <p:cNvSpPr/>
          <p:nvPr/>
        </p:nvSpPr>
        <p:spPr>
          <a:xfrm>
            <a:off x="3429000" y="1508760"/>
            <a:ext cx="2468160" cy="18738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9"/>
          <p:cNvSpPr/>
          <p:nvPr/>
        </p:nvSpPr>
        <p:spPr>
          <a:xfrm>
            <a:off x="4297680" y="1783080"/>
            <a:ext cx="657720" cy="6577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10"/>
          <p:cNvSpPr/>
          <p:nvPr/>
        </p:nvSpPr>
        <p:spPr>
          <a:xfrm>
            <a:off x="4443840" y="1947600"/>
            <a:ext cx="346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</a:rPr>
              <a:t>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11"/>
          <p:cNvSpPr/>
          <p:nvPr/>
        </p:nvSpPr>
        <p:spPr>
          <a:xfrm>
            <a:off x="3840480" y="2541960"/>
            <a:ext cx="164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172a"/>
                </a:solidFill>
                <a:latin typeface="Aptos"/>
              </a:rPr>
              <a:t>Predict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12"/>
          <p:cNvSpPr/>
          <p:nvPr/>
        </p:nvSpPr>
        <p:spPr>
          <a:xfrm>
            <a:off x="3657600" y="2889360"/>
            <a:ext cx="2010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</a:rPr>
              <a:t>Pneumonia probability + class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13"/>
          <p:cNvSpPr/>
          <p:nvPr/>
        </p:nvSpPr>
        <p:spPr>
          <a:xfrm>
            <a:off x="5915880" y="2441160"/>
            <a:ext cx="256320" cy="360"/>
          </a:xfrm>
          <a:prstGeom prst="line">
            <a:avLst/>
          </a:prstGeom>
          <a:ln w="25400">
            <a:solidFill>
              <a:srgbClr val="1f4e7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14"/>
          <p:cNvSpPr/>
          <p:nvPr/>
        </p:nvSpPr>
        <p:spPr>
          <a:xfrm>
            <a:off x="6263640" y="1508760"/>
            <a:ext cx="2468160" cy="18738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15"/>
          <p:cNvSpPr/>
          <p:nvPr/>
        </p:nvSpPr>
        <p:spPr>
          <a:xfrm>
            <a:off x="7132320" y="1783080"/>
            <a:ext cx="657720" cy="6577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16"/>
          <p:cNvSpPr/>
          <p:nvPr/>
        </p:nvSpPr>
        <p:spPr>
          <a:xfrm>
            <a:off x="7278480" y="1947600"/>
            <a:ext cx="346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</a:rPr>
              <a:t>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17"/>
          <p:cNvSpPr/>
          <p:nvPr/>
        </p:nvSpPr>
        <p:spPr>
          <a:xfrm>
            <a:off x="6675120" y="2541960"/>
            <a:ext cx="164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172a"/>
                </a:solidFill>
                <a:latin typeface="Aptos"/>
              </a:rPr>
              <a:t>Explain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18"/>
          <p:cNvSpPr/>
          <p:nvPr/>
        </p:nvSpPr>
        <p:spPr>
          <a:xfrm>
            <a:off x="6492240" y="2889360"/>
            <a:ext cx="2010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</a:rPr>
              <a:t>Grad-CAM heatmap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19"/>
          <p:cNvSpPr/>
          <p:nvPr/>
        </p:nvSpPr>
        <p:spPr>
          <a:xfrm>
            <a:off x="8750520" y="2441160"/>
            <a:ext cx="256320" cy="360"/>
          </a:xfrm>
          <a:prstGeom prst="line">
            <a:avLst/>
          </a:prstGeom>
          <a:ln w="25400">
            <a:solidFill>
              <a:srgbClr val="1f4e7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20"/>
          <p:cNvSpPr/>
          <p:nvPr/>
        </p:nvSpPr>
        <p:spPr>
          <a:xfrm>
            <a:off x="9098280" y="1508760"/>
            <a:ext cx="2468160" cy="18738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21"/>
          <p:cNvSpPr/>
          <p:nvPr/>
        </p:nvSpPr>
        <p:spPr>
          <a:xfrm>
            <a:off x="9966960" y="1783080"/>
            <a:ext cx="657720" cy="6577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22"/>
          <p:cNvSpPr/>
          <p:nvPr/>
        </p:nvSpPr>
        <p:spPr>
          <a:xfrm>
            <a:off x="10113120" y="1947600"/>
            <a:ext cx="346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ptos"/>
              </a:rPr>
              <a:t>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23"/>
          <p:cNvSpPr/>
          <p:nvPr/>
        </p:nvSpPr>
        <p:spPr>
          <a:xfrm>
            <a:off x="9509760" y="2541960"/>
            <a:ext cx="164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172a"/>
                </a:solidFill>
                <a:latin typeface="Aptos"/>
              </a:rPr>
              <a:t>Localize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24"/>
          <p:cNvSpPr/>
          <p:nvPr/>
        </p:nvSpPr>
        <p:spPr>
          <a:xfrm>
            <a:off x="9326880" y="2889360"/>
            <a:ext cx="2010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Aptos"/>
              </a:rPr>
              <a:t>Heatmap-derived region box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25"/>
          <p:cNvSpPr/>
          <p:nvPr/>
        </p:nvSpPr>
        <p:spPr>
          <a:xfrm>
            <a:off x="1005840" y="3977640"/>
            <a:ext cx="10057680" cy="1370880"/>
          </a:xfrm>
          <a:prstGeom prst="roundRect">
            <a:avLst>
              <a:gd name="adj" fmla="val 8000"/>
            </a:avLst>
          </a:prstGeom>
          <a:solidFill>
            <a:srgbClr val="fdf2f2"/>
          </a:solidFill>
          <a:ln w="12700">
            <a:solidFill>
              <a:srgbClr val="f1c5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26"/>
          <p:cNvSpPr/>
          <p:nvPr/>
        </p:nvSpPr>
        <p:spPr>
          <a:xfrm>
            <a:off x="1280160" y="423360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b91c1c"/>
                </a:solidFill>
                <a:latin typeface="Aptos"/>
              </a:rPr>
              <a:t>Important interpretation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27"/>
          <p:cNvSpPr/>
          <p:nvPr/>
        </p:nvSpPr>
        <p:spPr>
          <a:xfrm>
            <a:off x="3474720" y="4169520"/>
            <a:ext cx="7223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Aptos"/>
              </a:rPr>
              <a:t>The localization box is a weakly supervised visual explanation. It is useful for inspection, but it is not a clinically validated lesion segmentation.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28"/>
          <p:cNvSpPr/>
          <p:nvPr/>
        </p:nvSpPr>
        <p:spPr>
          <a:xfrm>
            <a:off x="1005840" y="5669280"/>
            <a:ext cx="43884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6324f"/>
                </a:solidFill>
                <a:latin typeface="Aptos"/>
              </a:rPr>
              <a:t>Demo command:  streamlit run app.py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1"/>
          <p:cNvSpPr>
            <a:spLocks noGrp="1"/>
          </p:cNvSpPr>
          <p:nvPr>
            <p:ph type="sldNum" idx="13"/>
          </p:nvPr>
        </p:nvSpPr>
        <p:spPr>
          <a:xfrm>
            <a:off x="1179576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64748b"/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09E9C4A8-AC2B-46C6-8682-BECCB8593E4D}" type="slidenum">
              <a:rPr b="0" lang="en-US" sz="800" spc="-1" strike="noStrike">
                <a:solidFill>
                  <a:srgbClr val="64748b"/>
                </a:solidFill>
                <a:latin typeface="Aptos"/>
              </a:rPr>
              <a:t>9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 0"/>
          <p:cNvSpPr/>
          <p:nvPr/>
        </p:nvSpPr>
        <p:spPr>
          <a:xfrm>
            <a:off x="502920" y="347400"/>
            <a:ext cx="110635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6324f"/>
                </a:solidFill>
                <a:latin typeface="Aptos"/>
              </a:rPr>
              <a:t>Conclusion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1"/>
          <p:cNvSpPr/>
          <p:nvPr/>
        </p:nvSpPr>
        <p:spPr>
          <a:xfrm>
            <a:off x="530280" y="822960"/>
            <a:ext cx="10972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Aptos"/>
              </a:rPr>
              <a:t>A compact summary of what was built, what improved, and what remains limited.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2"/>
          <p:cNvSpPr/>
          <p:nvPr/>
        </p:nvSpPr>
        <p:spPr>
          <a:xfrm>
            <a:off x="658440" y="1325880"/>
            <a:ext cx="6903000" cy="443412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3"/>
          <p:cNvSpPr/>
          <p:nvPr/>
        </p:nvSpPr>
        <p:spPr>
          <a:xfrm>
            <a:off x="914400" y="1591200"/>
            <a:ext cx="21024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f4e79"/>
                </a:solidFill>
                <a:latin typeface="Aptos"/>
              </a:rPr>
              <a:t>WHAT WE ACHIEVED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4"/>
          <p:cNvSpPr/>
          <p:nvPr/>
        </p:nvSpPr>
        <p:spPr>
          <a:xfrm>
            <a:off x="914400" y="1920240"/>
            <a:ext cx="6125760" cy="26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marL="203040" indent="-20304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1e293b"/>
                </a:solidFill>
                <a:latin typeface="Aptos"/>
              </a:rPr>
              <a:t>Built a weakly supervised pneumonia detection and localization pipeline using DenseNet121 + Grad-CAM.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1e293b"/>
                </a:solidFill>
                <a:latin typeface="Aptos"/>
              </a:rPr>
              <a:t>Used all 26,684 labeled RSNA images with reproducible image-level splitting.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1e293b"/>
                </a:solidFill>
                <a:latin typeface="Aptos"/>
              </a:rPr>
              <a:t>224×224 improved AUROC to 0.8815 and primary mean IoU to 0.2051 versus the tuned 128×128 baseline.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1e293b"/>
                </a:solidFill>
                <a:latin typeface="Aptos"/>
              </a:rPr>
              <a:t>Kept ground-truth boxes out of classifier training and used them only for localization evaluation.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5"/>
          <p:cNvSpPr/>
          <p:nvPr/>
        </p:nvSpPr>
        <p:spPr>
          <a:xfrm>
            <a:off x="914400" y="5047560"/>
            <a:ext cx="6171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f766e"/>
                </a:solidFill>
                <a:latin typeface="Aptos"/>
              </a:rPr>
              <a:t>Final model: 82.73% accuracy • 68.16% sensitivity • 86.98% specificity • 64.07% F1 • 88.15% AUROC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6"/>
          <p:cNvSpPr/>
          <p:nvPr/>
        </p:nvSpPr>
        <p:spPr>
          <a:xfrm>
            <a:off x="7909560" y="1325880"/>
            <a:ext cx="3611160" cy="4434120"/>
          </a:xfrm>
          <a:prstGeom prst="roundRect">
            <a:avLst>
              <a:gd name="adj" fmla="val 3038"/>
            </a:avLst>
          </a:prstGeom>
          <a:solidFill>
            <a:srgbClr val="f8fafc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7"/>
          <p:cNvSpPr/>
          <p:nvPr/>
        </p:nvSpPr>
        <p:spPr>
          <a:xfrm>
            <a:off x="8183880" y="1591200"/>
            <a:ext cx="2559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b91c1c"/>
                </a:solidFill>
                <a:latin typeface="Aptos"/>
              </a:rPr>
              <a:t>LIMITATIONS / NEXT STEP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8"/>
          <p:cNvSpPr/>
          <p:nvPr/>
        </p:nvSpPr>
        <p:spPr>
          <a:xfrm>
            <a:off x="8183880" y="1938600"/>
            <a:ext cx="301680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marL="203040" indent="-20304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e293b"/>
                </a:solidFill>
                <a:latin typeface="Aptos"/>
              </a:rPr>
              <a:t>Localization remains coarse: 5.97% of positive test images reached IoU ≥ 0.5.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e293b"/>
                </a:solidFill>
                <a:latin typeface="Aptos"/>
              </a:rPr>
              <a:t>Evaluation uses the RSNA training partition, not external clinical validation.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e293b"/>
                </a:solidFill>
                <a:latin typeface="Aptos"/>
              </a:rPr>
              <a:t>Grad-CAM outputs should not be interpreted as clinical-grade lesion outlines.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9"/>
          <p:cNvSpPr/>
          <p:nvPr/>
        </p:nvSpPr>
        <p:spPr>
          <a:xfrm>
            <a:off x="8183880" y="4251960"/>
            <a:ext cx="2743200" cy="36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10"/>
          <p:cNvSpPr/>
          <p:nvPr/>
        </p:nvSpPr>
        <p:spPr>
          <a:xfrm>
            <a:off x="8366760" y="455364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6324f"/>
                </a:solidFill>
                <a:latin typeface="Aptos"/>
              </a:rPr>
              <a:t>Thank you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11"/>
          <p:cNvSpPr/>
          <p:nvPr/>
        </p:nvSpPr>
        <p:spPr>
          <a:xfrm>
            <a:off x="8366760" y="5029200"/>
            <a:ext cx="2376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64748b"/>
                </a:solidFill>
                <a:latin typeface="Aptos"/>
              </a:rPr>
              <a:t>Questions?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12"/>
          <p:cNvSpPr/>
          <p:nvPr/>
        </p:nvSpPr>
        <p:spPr>
          <a:xfrm>
            <a:off x="749880" y="5870520"/>
            <a:ext cx="9966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Aptos"/>
              </a:rPr>
              <a:t>Reference: Huang, Monam &amp; Cortes, “Weakly Supervised Pneumonia Localization.”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1"/>
          <p:cNvSpPr>
            <a:spLocks noGrp="1"/>
          </p:cNvSpPr>
          <p:nvPr>
            <p:ph type="sldNum" idx="14"/>
          </p:nvPr>
        </p:nvSpPr>
        <p:spPr>
          <a:xfrm>
            <a:off x="1179576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64748b"/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8F5B0D64-AC29-4E16-BD87-103807012FAA}" type="slidenum">
              <a:rPr b="0" lang="en-US" sz="800" spc="-1" strike="noStrike">
                <a:solidFill>
                  <a:srgbClr val="64748b"/>
                </a:solidFill>
                <a:latin typeface="Aptos"/>
              </a:rPr>
              <a:t>10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LibreOffice/24.2.7.2$Linux_X86_64 LibreOffice_project/420$Build-2</Application>
  <AppVersion>15.0000</AppVersion>
  <Words>0</Words>
  <Paragraphs>0</Paragraphs>
  <Company>PES University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2026-10-08T15:27:15Z</dcterms:created>
  <dc:creator>Abhay Babji P</dc:creator>
  <dc:description/>
  <dc:language>en-US</dc:language>
  <cp:lastModifiedBy/>
  <dcterms:modified xsi:type="dcterms:W3CDTF">2026-10-08T22:19:05Z</dcterms:modified>
  <cp:revision>2</cp:revision>
  <dc:subject>Machine Learning Mini-Project</dc:subject>
  <dc:title>Pneumonia Diagnosis Detection and Localization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On-screen Show (16:9)</vt:lpwstr>
  </property>
  <property fmtid="{D5CDD505-2E9C-101B-9397-08002B2CF9AE}" pid="4" name="Slides">
    <vt:r8>10</vt:r8>
  </property>
</Properties>
</file>